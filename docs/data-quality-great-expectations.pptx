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92" d="100"/>
          <a:sy n="92" d="100"/>
        </p:scale>
        <p:origin x="184" y="2040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8822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8103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5143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1862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1749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0717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153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4294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5293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F57833-4ED9-0798-5995-722822592D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4267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3619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1526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637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070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1218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83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5687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8040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F2A3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459514" name="Shape 0"/>
          <p:cNvSpPr/>
          <p:nvPr/>
        </p:nvSpPr>
        <p:spPr bwMode="auto">
          <a:xfrm>
            <a:off x="6949440" y="-1097280"/>
            <a:ext cx="3657600" cy="3657600"/>
          </a:xfrm>
          <a:prstGeom prst="ellipse">
            <a:avLst/>
          </a:prstGeom>
          <a:solidFill>
            <a:srgbClr val="FF7602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0932936" name="Text 1"/>
          <p:cNvSpPr/>
          <p:nvPr/>
        </p:nvSpPr>
        <p:spPr bwMode="auto"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4000" b="1">
                <a:solidFill>
                  <a:srgbClr val="FFFFFF"/>
                </a:solidFill>
                <a:latin typeface="Cambria"/>
              </a:rPr>
              <a:t>Data Quality on the Signals Pipeline</a:t>
            </a:r>
            <a:endParaRPr lang="en-US" sz="4400"/>
          </a:p>
        </p:txBody>
      </p:sp>
      <p:sp>
        <p:nvSpPr>
          <p:cNvPr id="149888494" name="Text 2"/>
          <p:cNvSpPr/>
          <p:nvPr/>
        </p:nvSpPr>
        <p:spPr bwMode="auto">
          <a:xfrm>
            <a:off x="548640" y="2194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2000">
                <a:solidFill>
                  <a:srgbClr val="FFB27A"/>
                </a:solidFill>
                <a:latin typeface="Calibri"/>
              </a:rPr>
              <a:t>Why Great Expectations, today and for the next state</a:t>
            </a:r>
            <a:endParaRPr lang="en-US" sz="2200"/>
          </a:p>
        </p:txBody>
      </p:sp>
      <p:sp>
        <p:nvSpPr>
          <p:cNvPr id="1166503436" name="Text 3"/>
          <p:cNvSpPr/>
          <p:nvPr/>
        </p:nvSpPr>
        <p:spPr bwMode="auto">
          <a:xfrm>
            <a:off x="548640" y="3017519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>
                <a:solidFill>
                  <a:srgbClr val="C9D1D6"/>
                </a:solidFill>
                <a:latin typeface="Calibri"/>
              </a:rPr>
              <a:t>Bronze stays in S3. Silver and gold move into Dagster.</a:t>
            </a:r>
            <a:endParaRPr lang="en-US" sz="1400"/>
          </a:p>
          <a:p>
            <a:pPr marL="0" indent="0">
              <a:buNone/>
              <a:defRPr/>
            </a:pPr>
            <a:r>
              <a:rPr sz="1400">
                <a:solidFill>
                  <a:srgbClr val="C9D1D6"/>
                </a:solidFill>
                <a:latin typeface="Calibri"/>
              </a:rPr>
              <a:t>Engineering design note</a:t>
            </a:r>
            <a:endParaRPr/>
          </a:p>
        </p:txBody>
      </p:sp>
      <p:sp>
        <p:nvSpPr>
          <p:cNvPr id="1604685571" name="Text 4"/>
          <p:cNvSpPr/>
          <p:nvPr/>
        </p:nvSpPr>
        <p:spPr bwMode="auto">
          <a:xfrm>
            <a:off x="54864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100">
                <a:solidFill>
                  <a:srgbClr val="8A959C"/>
                </a:solidFill>
                <a:latin typeface="Calibri"/>
              </a:rPr>
              <a:t>clear-context-pipeline  |  docs/data-quality-ingestion-design.md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473996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000" b="1">
                <a:solidFill>
                  <a:srgbClr val="1F2A33"/>
                </a:solidFill>
                <a:latin typeface="Cambria"/>
              </a:rPr>
              <a:t>Today: data quality is handled ad hoc</a:t>
            </a:r>
            <a:endParaRPr lang="en-US" sz="3000"/>
          </a:p>
        </p:txBody>
      </p:sp>
      <p:sp>
        <p:nvSpPr>
          <p:cNvPr id="34635895" name="Text 1"/>
          <p:cNvSpPr/>
          <p:nvPr/>
        </p:nvSpPr>
        <p:spPr bwMode="auto"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300" i="1">
                <a:solidFill>
                  <a:srgbClr val="5B6770"/>
                </a:solidFill>
                <a:latin typeface="Calibri"/>
              </a:rPr>
              <a:t>Failures are caught and counted. They are not categorized, gated, or drift-aware.</a:t>
            </a:r>
            <a:endParaRPr lang="en-US" sz="1300"/>
          </a:p>
        </p:txBody>
      </p:sp>
      <p:sp>
        <p:nvSpPr>
          <p:cNvPr id="1201570286" name="Shape 2"/>
          <p:cNvSpPr/>
          <p:nvPr/>
        </p:nvSpPr>
        <p:spPr bwMode="auto">
          <a:xfrm>
            <a:off x="45720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5188882" name="Text 3"/>
          <p:cNvSpPr/>
          <p:nvPr/>
        </p:nvSpPr>
        <p:spPr bwMode="auto">
          <a:xfrm>
            <a:off x="64008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2400" b="1">
                <a:solidFill>
                  <a:srgbClr val="FF7602"/>
                </a:solidFill>
                <a:latin typeface="Cambria"/>
              </a:rPr>
              <a:t>No triage</a:t>
            </a:r>
            <a:endParaRPr lang="en-US" sz="4000"/>
          </a:p>
        </p:txBody>
      </p:sp>
      <p:sp>
        <p:nvSpPr>
          <p:cNvPr id="1888898157" name="Text 4"/>
          <p:cNvSpPr/>
          <p:nvPr/>
        </p:nvSpPr>
        <p:spPr bwMode="auto">
          <a:xfrm>
            <a:off x="640080" y="2220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factory.py's ingest loop counts created/failed per record. It never says why: missing field, out-of-range value, or upstream schema drift.</a:t>
            </a:r>
            <a:endParaRPr lang="en-US" sz="1150"/>
          </a:p>
        </p:txBody>
      </p:sp>
      <p:sp>
        <p:nvSpPr>
          <p:cNvPr id="690158403" name="Shape 5"/>
          <p:cNvSpPr/>
          <p:nvPr/>
        </p:nvSpPr>
        <p:spPr bwMode="auto">
          <a:xfrm>
            <a:off x="329184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9150902" name="Text 6"/>
          <p:cNvSpPr/>
          <p:nvPr/>
        </p:nvSpPr>
        <p:spPr bwMode="auto">
          <a:xfrm>
            <a:off x="347472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2400" b="1">
                <a:solidFill>
                  <a:srgbClr val="FF7602"/>
                </a:solidFill>
                <a:latin typeface="Cambria"/>
              </a:rPr>
              <a:t>Exact match</a:t>
            </a:r>
            <a:endParaRPr lang="en-US" sz="4000"/>
          </a:p>
        </p:txBody>
      </p:sp>
      <p:sp>
        <p:nvSpPr>
          <p:cNvPr id="544463092" name="Text 7"/>
          <p:cNvSpPr/>
          <p:nvPr/>
        </p:nvSpPr>
        <p:spPr bwMode="auto">
          <a:xfrm>
            <a:off x="3474720" y="2220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Redis content-hash dedup catches exact re-ingestion, not statistical drift. A source sending 90% null coordinates goes undetected.</a:t>
            </a:r>
            <a:endParaRPr lang="en-US" sz="1150"/>
          </a:p>
        </p:txBody>
      </p:sp>
      <p:sp>
        <p:nvSpPr>
          <p:cNvPr id="1682870490" name="Shape 8"/>
          <p:cNvSpPr/>
          <p:nvPr/>
        </p:nvSpPr>
        <p:spPr bwMode="auto">
          <a:xfrm>
            <a:off x="612648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9199465" name="Text 9"/>
          <p:cNvSpPr/>
          <p:nvPr/>
        </p:nvSpPr>
        <p:spPr bwMode="auto">
          <a:xfrm>
            <a:off x="630936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2400" b="1">
                <a:solidFill>
                  <a:srgbClr val="FF7602"/>
                </a:solidFill>
                <a:latin typeface="Cambria"/>
              </a:rPr>
              <a:t>No suite</a:t>
            </a:r>
            <a:endParaRPr lang="en-US" sz="4000"/>
          </a:p>
        </p:txBody>
      </p:sp>
      <p:sp>
        <p:nvSpPr>
          <p:cNvPr id="1544037446" name="Text 10"/>
          <p:cNvSpPr/>
          <p:nvPr/>
        </p:nvSpPr>
        <p:spPr bwMode="auto">
          <a:xfrm>
            <a:off x="6309360" y="2220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No suite of expectations a reviewer can read to know what “good data” means at each stage of Signal → Event → Alert → Crisis</a:t>
            </a:r>
            <a:endParaRPr lang="en-US" sz="1150"/>
          </a:p>
        </p:txBody>
      </p:sp>
      <p:sp>
        <p:nvSpPr>
          <p:cNvPr id="181972852" name="Text 11"/>
          <p:cNvSpPr/>
          <p:nvPr/>
        </p:nvSpPr>
        <p:spPr bwMode="auto">
          <a:xfrm>
            <a:off x="457200" y="311564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  <a:defRPr/>
            </a:pPr>
            <a:r>
              <a:rPr sz="1300" b="1">
                <a:solidFill>
                  <a:srgbClr val="1F2A33"/>
                </a:solidFill>
                <a:latin typeface="Calibri"/>
              </a:rPr>
              <a:t>—&gt; Retries are a resilience mechanism, not a quality gate. They don't say what's structurally wrong with the data.</a:t>
            </a:r>
            <a:endParaRPr lang="en-US" sz="1300"/>
          </a:p>
          <a:p>
            <a:pPr marL="0" indent="0">
              <a:spcAft>
                <a:spcPts val="600"/>
              </a:spcAft>
              <a:buNone/>
              <a:defRPr/>
            </a:pPr>
            <a:r>
              <a:rPr sz="1300" b="1">
                <a:solidFill>
                  <a:srgbClr val="1F2A33"/>
                </a:solidFill>
                <a:latin typeface="Calibri"/>
              </a:rPr>
              <a:t>—&gt; This is a different concern from the figure-credibility score. That score asks how much to trust a number; this asks whether a batch is structurally sound.</a:t>
            </a:r>
            <a:endParaRPr/>
          </a:p>
          <a:p>
            <a:pPr marL="0" indent="0">
              <a:spcAft>
                <a:spcPts val="600"/>
              </a:spcAft>
              <a:buNone/>
              <a:defRPr/>
            </a:pPr>
            <a:r>
              <a:rPr sz="1300" b="1">
                <a:solidFill>
                  <a:srgbClr val="1F2A33"/>
                </a:solidFill>
                <a:latin typeface="Calibri"/>
              </a:rPr>
              <a:t>The gap: no declarative, queryable definition of « good » data per stage. The next state closes this by gating every promotion, not just some of them.</a:t>
            </a:r>
            <a:endParaRPr/>
          </a:p>
        </p:txBody>
      </p:sp>
      <p:sp>
        <p:nvSpPr>
          <p:cNvPr id="1083359867" name="Text 12"/>
          <p:cNvSpPr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900">
                <a:solidFill>
                  <a:srgbClr val="5B6770"/>
                </a:solidFill>
                <a:latin typeface="Calibri"/>
              </a:rPr>
              <a:t>CLEAR Context Pipeline  |  Data Quality Design  |  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595149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000" b="1">
                <a:solidFill>
                  <a:srgbClr val="1F2A33"/>
                </a:solidFill>
                <a:latin typeface="Cambria"/>
              </a:rPr>
              <a:t>Current state to next state</a:t>
            </a:r>
            <a:endParaRPr lang="en-US" sz="3000"/>
          </a:p>
        </p:txBody>
      </p:sp>
      <p:sp>
        <p:nvSpPr>
          <p:cNvPr id="1250511554" name="Shape 1"/>
          <p:cNvSpPr/>
          <p:nvPr/>
        </p:nvSpPr>
        <p:spPr bwMode="auto">
          <a:xfrm>
            <a:off x="457200" y="1188720"/>
            <a:ext cx="3252866" cy="3383280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162296" name="Text 2"/>
          <p:cNvSpPr/>
          <p:nvPr/>
        </p:nvSpPr>
        <p:spPr bwMode="auto"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500" b="1">
                <a:solidFill>
                  <a:srgbClr val="FF7602"/>
                </a:solidFill>
                <a:latin typeface="Cambria"/>
              </a:rPr>
              <a:t>Current state</a:t>
            </a:r>
            <a:endParaRPr lang="en-US" sz="1500"/>
          </a:p>
        </p:txBody>
      </p:sp>
      <p:sp>
        <p:nvSpPr>
          <p:cNvPr id="29191109" name="Text 3"/>
          <p:cNvSpPr/>
          <p:nvPr/>
        </p:nvSpPr>
        <p:spPr bwMode="auto">
          <a:xfrm>
            <a:off x="640079" y="1737360"/>
            <a:ext cx="288260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3360" indent="-106680" algn="l">
              <a:spcAft>
                <a:spcPts val="400"/>
              </a:spcAft>
              <a:buSzPct val="100000"/>
              <a:buChar char="•"/>
              <a:defRPr/>
            </a:pPr>
            <a:r>
              <a:rPr sz="1050">
                <a:solidFill>
                  <a:srgbClr val="1F2A33"/>
                </a:solidFill>
                <a:latin typeface="Calibri"/>
              </a:rPr>
              <a:t>Silver is a clear-api write: createSignal lands a row in Postgres</a:t>
            </a:r>
            <a:endParaRPr lang="en-US" sz="1050"/>
          </a:p>
          <a:p>
            <a:pPr marL="213360" indent="-106680" algn="l">
              <a:spcAft>
                <a:spcPts val="400"/>
              </a:spcAft>
              <a:buChar char="•"/>
              <a:defRPr/>
            </a:pPr>
            <a:r>
              <a:rPr sz="1050">
                <a:solidFill>
                  <a:srgbClr val="1F2A33"/>
                </a:solidFill>
                <a:latin typeface="Calibri"/>
              </a:rPr>
              <a:t>Classify, geo, and temporal steps each round-trip clear-api</a:t>
            </a:r>
            <a:endParaRPr/>
          </a:p>
          <a:p>
            <a:pPr marL="213360" indent="-106680" algn="l">
              <a:spcAft>
                <a:spcPts val="400"/>
              </a:spcAft>
              <a:buChar char="•"/>
              <a:defRPr/>
            </a:pPr>
            <a:r>
              <a:rPr sz="1050">
                <a:solidFill>
                  <a:srgbClr val="1F2A33"/>
                </a:solidFill>
                <a:latin typeface="Calibri"/>
              </a:rPr>
              <a:t>Event create-or-merge writes inline, mid-consolidation</a:t>
            </a:r>
            <a:endParaRPr/>
          </a:p>
          <a:p>
            <a:pPr marL="213360" indent="-106680" algn="l">
              <a:spcAft>
                <a:spcPts val="400"/>
              </a:spcAft>
              <a:buChar char="•"/>
              <a:defRPr/>
            </a:pPr>
            <a:r>
              <a:rPr sz="1050">
                <a:solidFill>
                  <a:srgbClr val="1F2A33"/>
                </a:solidFill>
                <a:latin typeface="Calibri"/>
              </a:rPr>
              <a:t>Gold checks run after the write: a failure is a detection, not a prevention</a:t>
            </a:r>
            <a:endParaRPr/>
          </a:p>
          <a:p>
            <a:pPr marL="213360" indent="-106680" algn="l">
              <a:spcAft>
                <a:spcPts val="400"/>
              </a:spcAft>
              <a:buChar char="•"/>
              <a:defRPr/>
            </a:pPr>
            <a:r>
              <a:rPr sz="1050">
                <a:solidFill>
                  <a:srgbClr val="1F2A33"/>
                </a:solidFill>
                <a:latin typeface="Calibri"/>
              </a:rPr>
              <a:t>clear-api's database does the aggregation work</a:t>
            </a:r>
            <a:endParaRPr/>
          </a:p>
          <a:p>
            <a:pPr marL="213360" indent="-106680" algn="l">
              <a:spcAft>
                <a:spcPts val="400"/>
              </a:spcAft>
              <a:buChar char="•"/>
              <a:defRPr/>
            </a:pPr>
            <a:r>
              <a:rPr sz="1050">
                <a:solidFill>
                  <a:srgbClr val="1F2A33"/>
                </a:solidFill>
                <a:latin typeface="Calibri"/>
              </a:rPr>
              <a:t>More writes, more places for partial data to land</a:t>
            </a:r>
            <a:endParaRPr/>
          </a:p>
        </p:txBody>
      </p:sp>
      <p:sp>
        <p:nvSpPr>
          <p:cNvPr id="2076191310" name="Text 10"/>
          <p:cNvSpPr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900">
                <a:solidFill>
                  <a:srgbClr val="5B6770"/>
                </a:solidFill>
                <a:latin typeface="Calibri"/>
              </a:rPr>
              <a:t>CLEAR Context Pipeline  |  Data Quality Design  |  3</a:t>
            </a:r>
            <a:endParaRPr lang="en-US" sz="900"/>
          </a:p>
        </p:txBody>
      </p:sp>
      <p:sp>
        <p:nvSpPr>
          <p:cNvPr id="36040403" name="Shape 2"/>
          <p:cNvSpPr/>
          <p:nvPr/>
        </p:nvSpPr>
        <p:spPr bwMode="auto">
          <a:xfrm>
            <a:off x="4572000" y="1165860"/>
            <a:ext cx="4114800" cy="3383280"/>
          </a:xfrm>
          <a:prstGeom prst="roundRect">
            <a:avLst>
              <a:gd name="adj" fmla="val 3704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2328030" name="Text 3"/>
          <p:cNvSpPr/>
          <p:nvPr/>
        </p:nvSpPr>
        <p:spPr bwMode="auto">
          <a:xfrm>
            <a:off x="4937760" y="13030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600" b="1">
                <a:solidFill>
                  <a:srgbClr val="FF7602"/>
                </a:solidFill>
                <a:latin typeface="Cambria"/>
              </a:rPr>
              <a:t>Next state</a:t>
            </a:r>
            <a:endParaRPr lang="en-US" sz="4000"/>
          </a:p>
        </p:txBody>
      </p:sp>
      <p:sp>
        <p:nvSpPr>
          <p:cNvPr id="1364444001" name="Text 4"/>
          <p:cNvSpPr/>
          <p:nvPr/>
        </p:nvSpPr>
        <p:spPr bwMode="auto">
          <a:xfrm>
            <a:off x="4937760" y="19431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Silver and gold move into Dagster</a:t>
            </a:r>
            <a:endParaRPr lang="en-US" sz="1100"/>
          </a:p>
        </p:txBody>
      </p:sp>
      <p:sp>
        <p:nvSpPr>
          <p:cNvPr id="639975750" name="Text 5"/>
          <p:cNvSpPr/>
          <p:nvPr/>
        </p:nvSpPr>
        <p:spPr bwMode="auto">
          <a:xfrm>
            <a:off x="4937760" y="24917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2200" b="1">
                <a:solidFill>
                  <a:srgbClr val="1F2A33"/>
                </a:solidFill>
                <a:latin typeface="Cambria"/>
              </a:rPr>
              <a:t>One push</a:t>
            </a:r>
            <a:endParaRPr lang="en-US" sz="2200"/>
          </a:p>
        </p:txBody>
      </p:sp>
      <p:sp>
        <p:nvSpPr>
          <p:cNvPr id="2116808837" name="Text 6"/>
          <p:cNvSpPr/>
          <p:nvPr/>
        </p:nvSpPr>
        <p:spPr bwMode="auto">
          <a:xfrm>
            <a:off x="4937760" y="29489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50">
                <a:solidFill>
                  <a:srgbClr val="5B6770"/>
                </a:solidFill>
                <a:latin typeface="Calibri"/>
              </a:rPr>
              <a:t>A single validated write per finished object, not many multi-step ones</a:t>
            </a:r>
            <a:endParaRPr lang="en-US" sz="1050"/>
          </a:p>
        </p:txBody>
      </p:sp>
      <p:sp>
        <p:nvSpPr>
          <p:cNvPr id="797482936" name="Text 7"/>
          <p:cNvSpPr/>
          <p:nvPr/>
        </p:nvSpPr>
        <p:spPr bwMode="auto">
          <a:xfrm>
            <a:off x="4937760" y="35433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00" i="1">
                <a:solidFill>
                  <a:srgbClr val="1F2A33"/>
                </a:solidFill>
                <a:latin typeface="Calibri"/>
              </a:rPr>
              <a:t>GX gates every promotion: bronze to silver, silver to gold, gold to the push. Nothing partial reaches clear-api.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849629" name="TextBox 1"/>
          <p:cNvSpPr txBox="1"/>
          <p:nvPr/>
        </p:nvSpPr>
        <p:spPr bwMode="auto">
          <a:xfrm>
            <a:off x="457200" y="320040"/>
            <a:ext cx="8237159" cy="45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1F2A33"/>
                </a:solidFill>
                <a:latin typeface="Cambria"/>
              </a:rPr>
              <a:t>Next state: bronze to a single push</a:t>
            </a:r>
            <a:r>
              <a:rPr lang="fr-FR" sz="3000" b="1" i="0">
                <a:solidFill>
                  <a:srgbClr val="1F2A33"/>
                </a:solidFill>
                <a:latin typeface="Cambria"/>
              </a:rPr>
              <a:t> to clear-api</a:t>
            </a:r>
            <a:endParaRPr/>
          </a:p>
        </p:txBody>
      </p:sp>
      <p:sp>
        <p:nvSpPr>
          <p:cNvPr id="717566873" name="TextBox 2"/>
          <p:cNvSpPr txBox="1"/>
          <p:nvPr/>
        </p:nvSpPr>
        <p:spPr bwMode="auto"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0" i="1">
                <a:solidFill>
                  <a:srgbClr val="5B6770"/>
                </a:solidFill>
                <a:latin typeface="Calibri"/>
              </a:rPr>
              <a:t>Every arrow below is a GX gate. Nothing reaches clear-api until the final push.</a:t>
            </a:r>
            <a:endParaRPr/>
          </a:p>
        </p:txBody>
      </p:sp>
      <p:sp>
        <p:nvSpPr>
          <p:cNvPr id="1255231558" name="Rounded Rectangle 3"/>
          <p:cNvSpPr/>
          <p:nvPr/>
        </p:nvSpPr>
        <p:spPr bwMode="auto">
          <a:xfrm>
            <a:off x="365760" y="16916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/>
            </a:pPr>
            <a:r>
              <a:rPr sz="1500" b="1">
                <a:solidFill>
                  <a:srgbClr val="1F2A33"/>
                </a:solidFill>
                <a:latin typeface="Cambria"/>
              </a:rPr>
              <a:t>Sources</a:t>
            </a:r>
            <a:endParaRPr/>
          </a:p>
          <a:p>
            <a:pPr algn="ctr">
              <a:spcBef>
                <a:spcPts val="300"/>
              </a:spcBef>
              <a:defRPr/>
            </a:pPr>
            <a:r>
              <a:rPr sz="950">
                <a:solidFill>
                  <a:srgbClr val="5B6770"/>
                </a:solidFill>
                <a:latin typeface="Calibri"/>
              </a:rPr>
              <a:t>5 connectors</a:t>
            </a:r>
            <a:endParaRPr/>
          </a:p>
        </p:txBody>
      </p:sp>
      <p:sp>
        <p:nvSpPr>
          <p:cNvPr id="718772853" name="Rounded Rectangle 4"/>
          <p:cNvSpPr/>
          <p:nvPr/>
        </p:nvSpPr>
        <p:spPr bwMode="auto">
          <a:xfrm>
            <a:off x="2057400" y="16916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/>
            </a:pPr>
            <a:r>
              <a:rPr sz="1500" b="1">
                <a:solidFill>
                  <a:srgbClr val="1F2A33"/>
                </a:solidFill>
                <a:latin typeface="Cambria"/>
              </a:rPr>
              <a:t>Bronze</a:t>
            </a:r>
            <a:endParaRPr/>
          </a:p>
          <a:p>
            <a:pPr algn="ctr">
              <a:spcBef>
                <a:spcPts val="300"/>
              </a:spcBef>
              <a:defRPr/>
            </a:pPr>
            <a:r>
              <a:rPr sz="950">
                <a:solidFill>
                  <a:srgbClr val="5B6770"/>
                </a:solidFill>
                <a:latin typeface="Calibri"/>
              </a:rPr>
              <a:t>S3, replayable</a:t>
            </a:r>
            <a:endParaRPr/>
          </a:p>
        </p:txBody>
      </p:sp>
      <p:sp>
        <p:nvSpPr>
          <p:cNvPr id="444137752" name="Rounded Rectangle 5"/>
          <p:cNvSpPr/>
          <p:nvPr/>
        </p:nvSpPr>
        <p:spPr bwMode="auto">
          <a:xfrm>
            <a:off x="3749039" y="16916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/>
            </a:pPr>
            <a:r>
              <a:rPr sz="1500" b="1">
                <a:solidFill>
                  <a:srgbClr val="FF7602"/>
                </a:solidFill>
                <a:latin typeface="Cambria"/>
              </a:rPr>
              <a:t>Silver</a:t>
            </a:r>
            <a:endParaRPr/>
          </a:p>
          <a:p>
            <a:pPr algn="ctr">
              <a:spcBef>
                <a:spcPts val="300"/>
              </a:spcBef>
              <a:defRPr/>
            </a:pPr>
            <a:r>
              <a:rPr sz="950">
                <a:solidFill>
                  <a:srgbClr val="1F2A33"/>
                </a:solidFill>
                <a:latin typeface="Calibri"/>
              </a:rPr>
              <a:t>cleansed, GX-gated</a:t>
            </a:r>
            <a:endParaRPr/>
          </a:p>
        </p:txBody>
      </p:sp>
      <p:sp>
        <p:nvSpPr>
          <p:cNvPr id="1463336649" name="Rounded Rectangle 6"/>
          <p:cNvSpPr/>
          <p:nvPr/>
        </p:nvSpPr>
        <p:spPr bwMode="auto">
          <a:xfrm>
            <a:off x="5440680" y="16916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/>
            </a:pPr>
            <a:r>
              <a:rPr sz="1500" b="1">
                <a:solidFill>
                  <a:srgbClr val="FF7602"/>
                </a:solidFill>
                <a:latin typeface="Cambria"/>
              </a:rPr>
              <a:t>Gold</a:t>
            </a:r>
            <a:endParaRPr/>
          </a:p>
          <a:p>
            <a:pPr algn="ctr">
              <a:spcBef>
                <a:spcPts val="300"/>
              </a:spcBef>
              <a:defRPr/>
            </a:pPr>
            <a:r>
              <a:rPr lang="fr-FR" sz="950">
                <a:solidFill>
                  <a:srgbClr val="1F2A33"/>
                </a:solidFill>
                <a:latin typeface="Calibri"/>
              </a:rPr>
              <a:t>Signals / </a:t>
            </a:r>
            <a:r>
              <a:rPr sz="950">
                <a:solidFill>
                  <a:srgbClr val="1F2A33"/>
                </a:solidFill>
                <a:latin typeface="Calibri"/>
              </a:rPr>
              <a:t>Event</a:t>
            </a:r>
            <a:r>
              <a:rPr lang="fr-FR" sz="950">
                <a:solidFill>
                  <a:srgbClr val="1F2A33"/>
                </a:solidFill>
                <a:latin typeface="Calibri"/>
              </a:rPr>
              <a:t>s</a:t>
            </a:r>
            <a:r>
              <a:rPr sz="950">
                <a:solidFill>
                  <a:srgbClr val="1F2A33"/>
                </a:solidFill>
                <a:latin typeface="Calibri"/>
              </a:rPr>
              <a:t> / Alert</a:t>
            </a:r>
            <a:r>
              <a:rPr lang="fr-FR" sz="950">
                <a:solidFill>
                  <a:srgbClr val="1F2A33"/>
                </a:solidFill>
                <a:latin typeface="Calibri"/>
              </a:rPr>
              <a:t>s</a:t>
            </a:r>
            <a:r>
              <a:rPr sz="950">
                <a:solidFill>
                  <a:srgbClr val="1F2A33"/>
                </a:solidFill>
                <a:latin typeface="Calibri"/>
              </a:rPr>
              <a:t> / Crisis</a:t>
            </a:r>
            <a:endParaRPr/>
          </a:p>
        </p:txBody>
      </p:sp>
      <p:sp>
        <p:nvSpPr>
          <p:cNvPr id="301818148" name="Rounded Rectangle 7"/>
          <p:cNvSpPr/>
          <p:nvPr/>
        </p:nvSpPr>
        <p:spPr bwMode="auto">
          <a:xfrm>
            <a:off x="7132320" y="16916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Cambria"/>
              </a:rPr>
              <a:t>clear-api</a:t>
            </a:r>
            <a:endParaRPr/>
          </a:p>
          <a:p>
            <a:pPr algn="ctr">
              <a:spcBef>
                <a:spcPts val="300"/>
              </a:spcBef>
              <a:defRPr/>
            </a:pPr>
            <a:r>
              <a:rPr sz="950">
                <a:solidFill>
                  <a:srgbClr val="C9D1D6"/>
                </a:solidFill>
                <a:latin typeface="Calibri"/>
              </a:rPr>
              <a:t>serving store</a:t>
            </a:r>
            <a:endParaRPr/>
          </a:p>
        </p:txBody>
      </p:sp>
      <p:cxnSp>
        <p:nvCxnSpPr>
          <p:cNvPr id="2138630922" name="Connector 8"/>
          <p:cNvCxnSpPr/>
          <p:nvPr/>
        </p:nvCxnSpPr>
        <p:spPr bwMode="auto">
          <a:xfrm>
            <a:off x="1737360" y="2148840"/>
            <a:ext cx="320040" cy="0"/>
          </a:xfrm>
          <a:prstGeom prst="line">
            <a:avLst/>
          </a:prstGeom>
          <a:ln w="15875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672942" name="Connector 9"/>
          <p:cNvCxnSpPr/>
          <p:nvPr/>
        </p:nvCxnSpPr>
        <p:spPr bwMode="auto">
          <a:xfrm>
            <a:off x="3429000" y="2148840"/>
            <a:ext cx="320039" cy="0"/>
          </a:xfrm>
          <a:prstGeom prst="line">
            <a:avLst/>
          </a:prstGeom>
          <a:ln w="15875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385966" name="Connector 10"/>
          <p:cNvCxnSpPr/>
          <p:nvPr/>
        </p:nvCxnSpPr>
        <p:spPr bwMode="auto">
          <a:xfrm>
            <a:off x="6812280" y="2148840"/>
            <a:ext cx="320040" cy="0"/>
          </a:xfrm>
          <a:prstGeom prst="line">
            <a:avLst/>
          </a:prstGeom>
          <a:ln w="15875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922042" name="TextBox 11"/>
          <p:cNvSpPr txBox="1"/>
          <p:nvPr/>
        </p:nvSpPr>
        <p:spPr bwMode="auto">
          <a:xfrm>
            <a:off x="1691639" y="14173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50" b="0" i="0">
                <a:solidFill>
                  <a:srgbClr val="5B6770"/>
                </a:solidFill>
                <a:latin typeface="Calibri"/>
              </a:rPr>
              <a:t>poll</a:t>
            </a:r>
            <a:endParaRPr/>
          </a:p>
        </p:txBody>
      </p:sp>
      <p:sp>
        <p:nvSpPr>
          <p:cNvPr id="317286104" name="TextBox 12"/>
          <p:cNvSpPr txBox="1"/>
          <p:nvPr/>
        </p:nvSpPr>
        <p:spPr bwMode="auto">
          <a:xfrm>
            <a:off x="2926080" y="1417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FF7602"/>
                </a:solidFill>
                <a:latin typeface="Calibri"/>
              </a:rPr>
              <a:t>GX check</a:t>
            </a:r>
            <a:endParaRPr/>
          </a:p>
        </p:txBody>
      </p:sp>
      <p:sp>
        <p:nvSpPr>
          <p:cNvPr id="1156815400" name="TextBox 13"/>
          <p:cNvSpPr txBox="1"/>
          <p:nvPr/>
        </p:nvSpPr>
        <p:spPr bwMode="auto">
          <a:xfrm>
            <a:off x="6263640" y="141732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FF7602"/>
                </a:solidFill>
                <a:latin typeface="Calibri"/>
              </a:rPr>
              <a:t>single push</a:t>
            </a:r>
            <a:endParaRPr/>
          </a:p>
        </p:txBody>
      </p:sp>
      <p:sp>
        <p:nvSpPr>
          <p:cNvPr id="1266608145" name="Rounded Rectangle 14"/>
          <p:cNvSpPr/>
          <p:nvPr/>
        </p:nvSpPr>
        <p:spPr bwMode="auto">
          <a:xfrm>
            <a:off x="3611880" y="2788920"/>
            <a:ext cx="71323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7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/>
            </a:pPr>
            <a:r>
              <a:rPr sz="950" b="1">
                <a:solidFill>
                  <a:srgbClr val="1F2A33"/>
                </a:solidFill>
                <a:latin typeface="Calibri"/>
              </a:rPr>
              <a:t>Classify</a:t>
            </a:r>
            <a:endParaRPr/>
          </a:p>
        </p:txBody>
      </p:sp>
      <p:sp>
        <p:nvSpPr>
          <p:cNvPr id="1655469900" name="Rounded Rectangle 15"/>
          <p:cNvSpPr/>
          <p:nvPr/>
        </p:nvSpPr>
        <p:spPr bwMode="auto">
          <a:xfrm>
            <a:off x="4416552" y="2788920"/>
            <a:ext cx="71323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7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/>
            </a:pPr>
            <a:r>
              <a:rPr sz="950" b="1">
                <a:solidFill>
                  <a:srgbClr val="1F2A33"/>
                </a:solidFill>
                <a:latin typeface="Calibri"/>
              </a:rPr>
              <a:t>Geo</a:t>
            </a:r>
            <a:endParaRPr/>
          </a:p>
        </p:txBody>
      </p:sp>
      <p:sp>
        <p:nvSpPr>
          <p:cNvPr id="1948543887" name="Rounded Rectangle 16"/>
          <p:cNvSpPr/>
          <p:nvPr/>
        </p:nvSpPr>
        <p:spPr bwMode="auto">
          <a:xfrm>
            <a:off x="5221224" y="2788920"/>
            <a:ext cx="71323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7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/>
            </a:pPr>
            <a:r>
              <a:rPr sz="950" b="1">
                <a:solidFill>
                  <a:srgbClr val="1F2A33"/>
                </a:solidFill>
                <a:latin typeface="Calibri"/>
              </a:rPr>
              <a:t>Temporal</a:t>
            </a:r>
            <a:endParaRPr/>
          </a:p>
        </p:txBody>
      </p:sp>
      <p:sp>
        <p:nvSpPr>
          <p:cNvPr id="1610915793" name="Rounded Rectangle 17"/>
          <p:cNvSpPr/>
          <p:nvPr/>
        </p:nvSpPr>
        <p:spPr bwMode="auto">
          <a:xfrm>
            <a:off x="6025896" y="2788920"/>
            <a:ext cx="73152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7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/>
            </a:pPr>
            <a:r>
              <a:rPr sz="950" b="1">
                <a:solidFill>
                  <a:srgbClr val="1F2A33"/>
                </a:solidFill>
                <a:latin typeface="Calibri"/>
              </a:rPr>
              <a:t>Match &amp;</a:t>
            </a:r>
            <a:endParaRPr/>
          </a:p>
          <a:p>
            <a:pPr algn="ctr">
              <a:defRPr/>
            </a:pPr>
            <a:r>
              <a:rPr sz="950" b="1">
                <a:solidFill>
                  <a:srgbClr val="1F2A33"/>
                </a:solidFill>
                <a:latin typeface="Calibri"/>
              </a:rPr>
              <a:t>merge</a:t>
            </a:r>
            <a:endParaRPr/>
          </a:p>
        </p:txBody>
      </p:sp>
      <p:cxnSp>
        <p:nvCxnSpPr>
          <p:cNvPr id="1448564886" name="Connector 18"/>
          <p:cNvCxnSpPr/>
          <p:nvPr/>
        </p:nvCxnSpPr>
        <p:spPr bwMode="auto">
          <a:xfrm>
            <a:off x="4325112" y="3063238"/>
            <a:ext cx="91440" cy="0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1822967" name="Connector 19"/>
          <p:cNvCxnSpPr/>
          <p:nvPr/>
        </p:nvCxnSpPr>
        <p:spPr bwMode="auto">
          <a:xfrm>
            <a:off x="5129784" y="3063238"/>
            <a:ext cx="91440" cy="0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909871" name="Connector 20"/>
          <p:cNvCxnSpPr/>
          <p:nvPr/>
        </p:nvCxnSpPr>
        <p:spPr bwMode="auto">
          <a:xfrm>
            <a:off x="5934456" y="3063238"/>
            <a:ext cx="91440" cy="0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5375627" name="Connector 21"/>
          <p:cNvCxnSpPr/>
          <p:nvPr/>
        </p:nvCxnSpPr>
        <p:spPr bwMode="auto">
          <a:xfrm flipH="1">
            <a:off x="3968496" y="2606040"/>
            <a:ext cx="466344" cy="182880"/>
          </a:xfrm>
          <a:prstGeom prst="line">
            <a:avLst/>
          </a:prstGeom>
          <a:ln w="15875">
            <a:solidFill>
              <a:srgbClr val="FF760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850735" name="Connector 22"/>
          <p:cNvCxnSpPr/>
          <p:nvPr/>
        </p:nvCxnSpPr>
        <p:spPr bwMode="auto">
          <a:xfrm flipH="1" flipV="1">
            <a:off x="6126480" y="2606040"/>
            <a:ext cx="265176" cy="182880"/>
          </a:xfrm>
          <a:prstGeom prst="line">
            <a:avLst/>
          </a:prstGeom>
          <a:ln w="15875">
            <a:solidFill>
              <a:srgbClr val="FF760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795929" name="TextBox 23"/>
          <p:cNvSpPr txBox="1"/>
          <p:nvPr/>
        </p:nvSpPr>
        <p:spPr bwMode="auto">
          <a:xfrm>
            <a:off x="3611880" y="3410712"/>
            <a:ext cx="30175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950" b="0" i="1">
                <a:solidFill>
                  <a:srgbClr val="5B6770"/>
                </a:solidFill>
                <a:latin typeface="Calibri"/>
              </a:rPr>
              <a:t>Silver → Gold business logic, in Dagster</a:t>
            </a:r>
            <a:endParaRPr/>
          </a:p>
        </p:txBody>
      </p:sp>
      <p:sp>
        <p:nvSpPr>
          <p:cNvPr id="1970336378" name="TextBox 24"/>
          <p:cNvSpPr txBox="1"/>
          <p:nvPr/>
        </p:nvSpPr>
        <p:spPr bwMode="auto"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1F2A33"/>
                </a:solidFill>
                <a:latin typeface="Calibri"/>
              </a:rPr>
              <a:t>GX gates every arrow: bronze to silver, silver to gold, gold to the push. Nothing partial reaches clear-api.</a:t>
            </a:r>
            <a:endParaRPr/>
          </a:p>
        </p:txBody>
      </p:sp>
      <p:sp>
        <p:nvSpPr>
          <p:cNvPr id="2038057419" name="TextBox 25"/>
          <p:cNvSpPr txBox="1"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5B6770"/>
                </a:solidFill>
                <a:latin typeface="Calibri"/>
              </a:rPr>
              <a:t>CLEAR Context Pipeline  |  Data Quality Design  |  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783276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000" b="1">
                <a:solidFill>
                  <a:srgbClr val="1F2A33"/>
                </a:solidFill>
                <a:latin typeface="Cambria"/>
              </a:rPr>
              <a:t>Great Expectations vs. Soda</a:t>
            </a:r>
            <a:endParaRPr lang="en-US" sz="3000"/>
          </a:p>
        </p:txBody>
      </p:sp>
      <p:sp>
        <p:nvSpPr>
          <p:cNvPr id="456285979" name="Shape 1"/>
          <p:cNvSpPr/>
          <p:nvPr/>
        </p:nvSpPr>
        <p:spPr bwMode="auto">
          <a:xfrm>
            <a:off x="457200" y="1234440"/>
            <a:ext cx="320040" cy="32004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6213549" name="Text 2"/>
          <p:cNvSpPr/>
          <p:nvPr/>
        </p:nvSpPr>
        <p:spPr bwMode="auto">
          <a:xfrm>
            <a:off x="91440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No new infrastructure</a:t>
            </a:r>
            <a:endParaRPr lang="en-US" sz="1400"/>
          </a:p>
        </p:txBody>
      </p:sp>
      <p:sp>
        <p:nvSpPr>
          <p:cNvPr id="1270076897" name="Text 3"/>
          <p:cNvSpPr/>
          <p:nvPr/>
        </p:nvSpPr>
        <p:spPr bwMode="auto">
          <a:xfrm>
            <a:off x="914400" y="1508759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5B6770"/>
                </a:solidFill>
                <a:latin typeface="Calibri"/>
              </a:rPr>
              <a:t>Runs in-process against data the connector already holds in memory. Matches the existing philosophy that the only required services are Redis, S3, and clear-api.</a:t>
            </a:r>
            <a:endParaRPr lang="en-US" sz="1150"/>
          </a:p>
        </p:txBody>
      </p:sp>
      <p:sp>
        <p:nvSpPr>
          <p:cNvPr id="443981068" name="Shape 4"/>
          <p:cNvSpPr/>
          <p:nvPr/>
        </p:nvSpPr>
        <p:spPr bwMode="auto">
          <a:xfrm>
            <a:off x="457200" y="2103120"/>
            <a:ext cx="320040" cy="32004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0012638" name="Text 5"/>
          <p:cNvSpPr/>
          <p:nvPr/>
        </p:nvSpPr>
        <p:spPr bwMode="auto">
          <a:xfrm>
            <a:off x="914400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Fits the actual data shape</a:t>
            </a:r>
            <a:endParaRPr lang="en-US" sz="1400"/>
          </a:p>
        </p:txBody>
      </p:sp>
      <p:sp>
        <p:nvSpPr>
          <p:cNvPr id="2085405103" name="Text 6"/>
          <p:cNvSpPr/>
          <p:nvPr/>
        </p:nvSpPr>
        <p:spPr bwMode="auto">
          <a:xfrm>
            <a:off x="914400" y="2377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5B6770"/>
                </a:solidFill>
                <a:latin typeface="Calibri"/>
              </a:rPr>
              <a:t>Today, GX checks a batch built just before createSignal: a preview of silver, not silver itself. Next state, GX checks silver directly, no write</a:t>
            </a:r>
            <a:r>
              <a:rPr lang="fr-FR" sz="1100">
                <a:solidFill>
                  <a:srgbClr val="5B6770"/>
                </a:solidFill>
                <a:latin typeface="Calibri"/>
              </a:rPr>
              <a:t>s</a:t>
            </a:r>
            <a:r>
              <a:rPr sz="1100">
                <a:solidFill>
                  <a:srgbClr val="5B6770"/>
                </a:solidFill>
                <a:latin typeface="Calibri"/>
              </a:rPr>
              <a:t> in between.</a:t>
            </a:r>
            <a:endParaRPr lang="en-US" sz="1150"/>
          </a:p>
        </p:txBody>
      </p:sp>
      <p:sp>
        <p:nvSpPr>
          <p:cNvPr id="1467700368" name="Shape 7"/>
          <p:cNvSpPr/>
          <p:nvPr/>
        </p:nvSpPr>
        <p:spPr bwMode="auto">
          <a:xfrm>
            <a:off x="457200" y="2971800"/>
            <a:ext cx="320040" cy="32004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8346992" name="Text 8"/>
          <p:cNvSpPr/>
          <p:nvPr/>
        </p:nvSpPr>
        <p:spPr bwMode="auto">
          <a:xfrm>
            <a:off x="91440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One event-log substrate, not two</a:t>
            </a:r>
            <a:endParaRPr lang="en-US" sz="1400"/>
          </a:p>
        </p:txBody>
      </p:sp>
      <p:sp>
        <p:nvSpPr>
          <p:cNvPr id="1787354272" name="Text 9"/>
          <p:cNvSpPr/>
          <p:nvPr/>
        </p:nvSpPr>
        <p:spPr bwMode="auto">
          <a:xfrm>
            <a:off x="914400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5B6770"/>
                </a:solidFill>
                <a:latin typeface="Calibri"/>
              </a:rPr>
              <a:t>dagster-ge surfaces results as native ExpectationResult / asset metadata: the same substrate the observability hub already reads and forwards to Prometheus.</a:t>
            </a:r>
            <a:endParaRPr lang="en-US" sz="1150"/>
          </a:p>
        </p:txBody>
      </p:sp>
      <p:sp>
        <p:nvSpPr>
          <p:cNvPr id="144724379" name="Shape 10"/>
          <p:cNvSpPr/>
          <p:nvPr/>
        </p:nvSpPr>
        <p:spPr bwMode="auto">
          <a:xfrm>
            <a:off x="457200" y="3840480"/>
            <a:ext cx="320040" cy="32004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4607230" name="Text 11"/>
          <p:cNvSpPr/>
          <p:nvPr/>
        </p:nvSpPr>
        <p:spPr bwMode="auto">
          <a:xfrm>
            <a:off x="91440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Authoring style matches the repo</a:t>
            </a:r>
            <a:endParaRPr lang="en-US" sz="1400"/>
          </a:p>
        </p:txBody>
      </p:sp>
      <p:sp>
        <p:nvSpPr>
          <p:cNvPr id="523972402" name="Text 12"/>
          <p:cNvSpPr/>
          <p:nvPr/>
        </p:nvSpPr>
        <p:spPr bwMode="auto">
          <a:xfrm>
            <a:off x="914400" y="4114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5B6770"/>
                </a:solidFill>
                <a:latin typeface="Calibri"/>
              </a:rPr>
              <a:t>Python objects, not a YAML DSL. Fits this codebase's Python-first, type-hinted convention. SodaCL would be a second idiom to maintain.</a:t>
            </a:r>
            <a:endParaRPr lang="en-US" sz="1150"/>
          </a:p>
        </p:txBody>
      </p:sp>
      <p:sp>
        <p:nvSpPr>
          <p:cNvPr id="1472813762" name="Shape 13"/>
          <p:cNvSpPr/>
          <p:nvPr/>
        </p:nvSpPr>
        <p:spPr bwMode="auto">
          <a:xfrm>
            <a:off x="5486400" y="1188720"/>
            <a:ext cx="3200400" cy="3383280"/>
          </a:xfrm>
          <a:prstGeom prst="roundRect">
            <a:avLst>
              <a:gd name="adj" fmla="val 2857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7250515" name="Text 14"/>
          <p:cNvSpPr/>
          <p:nvPr/>
        </p:nvSpPr>
        <p:spPr bwMode="auto">
          <a:xfrm>
            <a:off x="57607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500" b="1">
                <a:solidFill>
                  <a:srgbClr val="FFB27A"/>
                </a:solidFill>
                <a:latin typeface="Cambria"/>
              </a:rPr>
              <a:t>Where Soda's strength doesn't apply here</a:t>
            </a:r>
            <a:endParaRPr lang="en-US" sz="1700"/>
          </a:p>
        </p:txBody>
      </p:sp>
      <p:sp>
        <p:nvSpPr>
          <p:cNvPr id="1638663899" name="Text 15"/>
          <p:cNvSpPr/>
          <p:nvPr/>
        </p:nvSpPr>
        <p:spPr bwMode="auto">
          <a:xfrm>
            <a:off x="5760720" y="1848318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SQL-speaking warehouses</a:t>
            </a:r>
            <a:endParaRPr lang="en-US" sz="1100"/>
          </a:p>
          <a:p>
            <a:pPr marL="0" indent="0">
              <a:buNone/>
              <a:defRPr/>
            </a:pPr>
            <a:r>
              <a:rPr sz="1050">
                <a:solidFill>
                  <a:srgbClr val="FFFFFF"/>
                </a:solidFill>
                <a:latin typeface="Calibri"/>
              </a:rPr>
              <a:t>Soda's headline value is push-down SQL checks against a live table: Postgres, Snowflake, Spark. That's its actual sweet spot.</a:t>
            </a:r>
            <a:endParaRPr sz="1050">
              <a:solidFill>
                <a:srgbClr val="FFFFFF"/>
              </a:solidFill>
              <a:latin typeface="Calibri"/>
            </a:endParaRPr>
          </a:p>
          <a:p>
            <a:pPr marL="0" indent="0">
              <a:buNone/>
              <a:defRPr/>
            </a:pPr>
            <a:endParaRPr/>
          </a:p>
          <a:p>
            <a:pPr marL="0" indent="0">
              <a:buNone/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No direct DB connection here</a:t>
            </a:r>
            <a:endParaRPr/>
          </a:p>
          <a:p>
            <a:pPr marL="0" indent="0">
              <a:buNone/>
              <a:defRPr/>
            </a:pPr>
            <a:r>
              <a:rPr sz="1050">
                <a:solidFill>
                  <a:srgbClr val="FFFFFF"/>
                </a:solidFill>
                <a:latin typeface="Calibri"/>
              </a:rPr>
              <a:t>Silver and gold live in clear-api's Postgres, reached only through GraphQL today, and inside Dagster itself under the next state.</a:t>
            </a:r>
            <a:endParaRPr sz="1050">
              <a:solidFill>
                <a:srgbClr val="FFFFFF"/>
              </a:solidFill>
              <a:latin typeface="Calibri"/>
            </a:endParaRPr>
          </a:p>
          <a:p>
            <a:pPr marL="0" indent="0">
              <a:buNone/>
              <a:defRPr/>
            </a:pPr>
            <a:endParaRPr/>
          </a:p>
          <a:p>
            <a:pPr marL="0" indent="0">
              <a:buNone/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Revisit if that changes</a:t>
            </a:r>
            <a:endParaRPr/>
          </a:p>
          <a:p>
            <a:pPr marL="0" indent="0">
              <a:buNone/>
              <a:defRPr/>
            </a:pPr>
            <a:r>
              <a:rPr sz="1050">
                <a:solidFill>
                  <a:srgbClr val="FFFFFF"/>
                </a:solidFill>
                <a:latin typeface="Calibri"/>
              </a:rPr>
              <a:t>A future read-replica connection would fit SodaCL. The next state leaves less to catch: clear-api holds only finished, validated objects.</a:t>
            </a:r>
            <a:endParaRPr/>
          </a:p>
        </p:txBody>
      </p:sp>
      <p:sp>
        <p:nvSpPr>
          <p:cNvPr id="268766276" name="Text 16"/>
          <p:cNvSpPr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900">
                <a:solidFill>
                  <a:srgbClr val="5B6770"/>
                </a:solidFill>
                <a:latin typeface="Calibri"/>
              </a:rPr>
              <a:t>CLEAR Context Pipeline  |  Data Quality Design  |  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841714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000" b="1">
                <a:solidFill>
                  <a:srgbClr val="1F2A33"/>
                </a:solidFill>
                <a:latin typeface="Cambria"/>
              </a:rPr>
              <a:t>Why Great Expectations: three reasons</a:t>
            </a:r>
            <a:endParaRPr lang="en-US" sz="3000"/>
          </a:p>
        </p:txBody>
      </p:sp>
      <p:sp>
        <p:nvSpPr>
          <p:cNvPr id="930384018" name="Text 1"/>
          <p:cNvSpPr/>
          <p:nvPr/>
        </p:nvSpPr>
        <p:spPr bwMode="auto"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300" i="1">
                <a:solidFill>
                  <a:srgbClr val="5B6770"/>
                </a:solidFill>
                <a:latin typeface="Calibri"/>
              </a:rPr>
              <a:t>Specific to this pipeline's constraints, sharper under the next state</a:t>
            </a:r>
            <a:endParaRPr lang="en-US" sz="1300"/>
          </a:p>
        </p:txBody>
      </p:sp>
      <p:sp>
        <p:nvSpPr>
          <p:cNvPr id="1590976793" name="Shape 2"/>
          <p:cNvSpPr/>
          <p:nvPr/>
        </p:nvSpPr>
        <p:spPr bwMode="auto">
          <a:xfrm>
            <a:off x="457200" y="1463040"/>
            <a:ext cx="2606040" cy="3108960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3678677" name="Shape 3"/>
          <p:cNvSpPr/>
          <p:nvPr/>
        </p:nvSpPr>
        <p:spPr bwMode="auto">
          <a:xfrm>
            <a:off x="640080" y="1645920"/>
            <a:ext cx="502920" cy="50292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1177652" name="Text 4"/>
          <p:cNvSpPr/>
          <p:nvPr/>
        </p:nvSpPr>
        <p:spPr bwMode="auto"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  <a:endParaRPr lang="en-US" sz="1800"/>
          </a:p>
        </p:txBody>
      </p:sp>
      <p:sp>
        <p:nvSpPr>
          <p:cNvPr id="1823408044" name="Text 5"/>
          <p:cNvSpPr/>
          <p:nvPr/>
        </p:nvSpPr>
        <p:spPr bwMode="auto">
          <a:xfrm>
            <a:off x="64008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500" b="1">
                <a:solidFill>
                  <a:srgbClr val="1F2A33"/>
                </a:solidFill>
                <a:latin typeface="Calibri"/>
              </a:rPr>
              <a:t>No new infrastructure</a:t>
            </a:r>
            <a:endParaRPr lang="en-US" sz="1500"/>
          </a:p>
        </p:txBody>
      </p:sp>
      <p:sp>
        <p:nvSpPr>
          <p:cNvPr id="1220542223" name="Text 6"/>
          <p:cNvSpPr/>
          <p:nvPr/>
        </p:nvSpPr>
        <p:spPr bwMode="auto">
          <a:xfrm>
            <a:off x="640080" y="29260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GX runs in-process against data the connector already holds in memory. No new service beyond the existing Redis, S3, and clear-api footprint, under either state.</a:t>
            </a:r>
            <a:endParaRPr lang="en-US" sz="1150"/>
          </a:p>
        </p:txBody>
      </p:sp>
      <p:sp>
        <p:nvSpPr>
          <p:cNvPr id="1203031703" name="Shape 7"/>
          <p:cNvSpPr/>
          <p:nvPr/>
        </p:nvSpPr>
        <p:spPr bwMode="auto">
          <a:xfrm>
            <a:off x="3291840" y="1463040"/>
            <a:ext cx="2606040" cy="3108960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2663688" name="Shape 8"/>
          <p:cNvSpPr/>
          <p:nvPr/>
        </p:nvSpPr>
        <p:spPr bwMode="auto">
          <a:xfrm>
            <a:off x="3474720" y="1645920"/>
            <a:ext cx="502920" cy="50292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7427659" name="Text 9"/>
          <p:cNvSpPr/>
          <p:nvPr/>
        </p:nvSpPr>
        <p:spPr bwMode="auto">
          <a:xfrm>
            <a:off x="34747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  <a:endParaRPr lang="en-US" sz="1800"/>
          </a:p>
        </p:txBody>
      </p:sp>
      <p:sp>
        <p:nvSpPr>
          <p:cNvPr id="1757265179" name="Text 10"/>
          <p:cNvSpPr/>
          <p:nvPr/>
        </p:nvSpPr>
        <p:spPr bwMode="auto">
          <a:xfrm>
            <a:off x="347472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500" b="1">
                <a:solidFill>
                  <a:srgbClr val="1F2A33"/>
                </a:solidFill>
                <a:latin typeface="Calibri"/>
              </a:rPr>
              <a:t>Fits the actual data shape</a:t>
            </a:r>
            <a:endParaRPr lang="en-US" sz="1500"/>
          </a:p>
        </p:txBody>
      </p:sp>
      <p:sp>
        <p:nvSpPr>
          <p:cNvPr id="2136190839" name="Text 11"/>
          <p:cNvSpPr/>
          <p:nvPr/>
        </p:nvSpPr>
        <p:spPr bwMode="auto">
          <a:xfrm>
            <a:off x="3474720" y="29260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Today, GX </a:t>
            </a:r>
            <a:r>
              <a:rPr lang="fr-FR" sz="1100">
                <a:solidFill>
                  <a:srgbClr val="1F2A33"/>
                </a:solidFill>
                <a:latin typeface="Calibri"/>
              </a:rPr>
              <a:t>wold check </a:t>
            </a:r>
            <a:r>
              <a:rPr sz="1100">
                <a:solidFill>
                  <a:srgbClr val="1F2A33"/>
                </a:solidFill>
                <a:latin typeface="Calibri"/>
              </a:rPr>
              <a:t>a batch built just before createSignal</a:t>
            </a:r>
            <a:r>
              <a:rPr lang="fr-FR" sz="1100">
                <a:solidFill>
                  <a:srgbClr val="1F2A33"/>
                </a:solidFill>
                <a:latin typeface="Calibri"/>
              </a:rPr>
              <a:t>. </a:t>
            </a:r>
            <a:r>
              <a:rPr sz="1100">
                <a:solidFill>
                  <a:srgbClr val="1F2A33"/>
                </a:solidFill>
                <a:latin typeface="Calibri"/>
              </a:rPr>
              <a:t>A bug in the write step afterward could slip through unseen. Next state, GX checks the real artifact directly, no write in between.</a:t>
            </a:r>
            <a:endParaRPr lang="en-US" sz="1150"/>
          </a:p>
        </p:txBody>
      </p:sp>
      <p:sp>
        <p:nvSpPr>
          <p:cNvPr id="1562122364" name="Shape 12"/>
          <p:cNvSpPr/>
          <p:nvPr/>
        </p:nvSpPr>
        <p:spPr bwMode="auto">
          <a:xfrm>
            <a:off x="6126480" y="1463040"/>
            <a:ext cx="2606040" cy="3108960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4988917" name="Shape 13"/>
          <p:cNvSpPr/>
          <p:nvPr/>
        </p:nvSpPr>
        <p:spPr bwMode="auto">
          <a:xfrm>
            <a:off x="6309360" y="1645920"/>
            <a:ext cx="502920" cy="50292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6432942" name="Text 14"/>
          <p:cNvSpPr/>
          <p:nvPr/>
        </p:nvSpPr>
        <p:spPr bwMode="auto">
          <a:xfrm>
            <a:off x="63093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  <a:endParaRPr lang="en-US" sz="1800"/>
          </a:p>
        </p:txBody>
      </p:sp>
      <p:sp>
        <p:nvSpPr>
          <p:cNvPr id="1196687977" name="Text 15"/>
          <p:cNvSpPr/>
          <p:nvPr/>
        </p:nvSpPr>
        <p:spPr bwMode="auto">
          <a:xfrm>
            <a:off x="630936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500" b="1">
                <a:solidFill>
                  <a:srgbClr val="1F2A33"/>
                </a:solidFill>
                <a:latin typeface="Calibri"/>
              </a:rPr>
              <a:t>One event-log substrate</a:t>
            </a:r>
            <a:endParaRPr lang="en-US" sz="1500"/>
          </a:p>
        </p:txBody>
      </p:sp>
      <p:sp>
        <p:nvSpPr>
          <p:cNvPr id="1539667345" name="Text 16"/>
          <p:cNvSpPr/>
          <p:nvPr/>
        </p:nvSpPr>
        <p:spPr bwMode="auto">
          <a:xfrm>
            <a:off x="6309360" y="29260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 b="1" i="1">
                <a:solidFill>
                  <a:srgbClr val="1F2A33"/>
                </a:solidFill>
                <a:latin typeface="Calibri"/>
              </a:rPr>
              <a:t>dagster-ge</a:t>
            </a:r>
            <a:r>
              <a:rPr sz="1100">
                <a:solidFill>
                  <a:srgbClr val="1F2A33"/>
                </a:solidFill>
                <a:latin typeface="Calibri"/>
              </a:rPr>
              <a:t> surfaces results as native ExpectationResult / asset metadata, forwarded to Prometheus via the observability hub. Under the next state this covers every stage: bronze, silver, each business-logic substep, and gold.</a:t>
            </a:r>
            <a:endParaRPr lang="en-US" sz="1150"/>
          </a:p>
        </p:txBody>
      </p:sp>
      <p:sp>
        <p:nvSpPr>
          <p:cNvPr id="1008775592" name="Text 17"/>
          <p:cNvSpPr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900">
                <a:solidFill>
                  <a:srgbClr val="5B6770"/>
                </a:solidFill>
                <a:latin typeface="Calibri"/>
              </a:rPr>
              <a:t>CLEAR Context Pipeline  |  Data Quality Design  |  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123409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000" b="1">
                <a:solidFill>
                  <a:srgbClr val="1F2A33"/>
                </a:solidFill>
                <a:latin typeface="Cambria"/>
              </a:rPr>
              <a:t>Rollout, and where checks plug into Dagster</a:t>
            </a:r>
            <a:endParaRPr lang="en-US" sz="3000"/>
          </a:p>
        </p:txBody>
      </p:sp>
      <p:sp>
        <p:nvSpPr>
          <p:cNvPr id="196932858" name="Text 1"/>
          <p:cNvSpPr/>
          <p:nvPr/>
        </p:nvSpPr>
        <p:spPr bwMode="auto"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300" i="1">
                <a:solidFill>
                  <a:srgbClr val="5B6770"/>
                </a:solidFill>
                <a:latin typeface="Calibri"/>
              </a:rPr>
              <a:t>From today's checks to the next-state architecture</a:t>
            </a:r>
            <a:endParaRPr lang="en-US" sz="1300"/>
          </a:p>
        </p:txBody>
      </p:sp>
      <p:sp>
        <p:nvSpPr>
          <p:cNvPr id="569329529" name="Shape 2"/>
          <p:cNvSpPr/>
          <p:nvPr/>
        </p:nvSpPr>
        <p:spPr bwMode="auto">
          <a:xfrm>
            <a:off x="457200" y="1389888"/>
            <a:ext cx="274320" cy="27432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0016638" name="Shape 3"/>
          <p:cNvSpPr/>
          <p:nvPr/>
        </p:nvSpPr>
        <p:spPr bwMode="auto">
          <a:xfrm>
            <a:off x="594360" y="1664208"/>
            <a:ext cx="0" cy="71323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9858711" name="Text 4"/>
          <p:cNvSpPr/>
          <p:nvPr/>
        </p:nvSpPr>
        <p:spPr bwMode="auto">
          <a:xfrm>
            <a:off x="914400" y="137160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Prove the framework</a:t>
            </a:r>
            <a:endParaRPr lang="en-US" sz="1400"/>
          </a:p>
        </p:txBody>
      </p:sp>
      <p:sp>
        <p:nvSpPr>
          <p:cNvPr id="935599618" name="Text 5"/>
          <p:cNvSpPr/>
          <p:nvPr/>
        </p:nvSpPr>
        <p:spPr bwMode="auto">
          <a:xfrm>
            <a:off x="914400" y="16733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50">
                <a:solidFill>
                  <a:srgbClr val="5B6770"/>
                </a:solidFill>
                <a:latin typeface="Calibri"/>
              </a:rPr>
              <a:t>Bronze/silver expectation suite for IDMC, wired as @dg.asset_check on raw_idmc. Then fold suite-building into factory.py's build_source_assets so every connector gets it for free.</a:t>
            </a:r>
            <a:endParaRPr lang="en-US" sz="1050"/>
          </a:p>
        </p:txBody>
      </p:sp>
      <p:sp>
        <p:nvSpPr>
          <p:cNvPr id="1013446781" name="Shape 6"/>
          <p:cNvSpPr/>
          <p:nvPr/>
        </p:nvSpPr>
        <p:spPr bwMode="auto">
          <a:xfrm>
            <a:off x="457200" y="2395728"/>
            <a:ext cx="274320" cy="27432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1358243" name="Shape 7"/>
          <p:cNvSpPr/>
          <p:nvPr/>
        </p:nvSpPr>
        <p:spPr bwMode="auto">
          <a:xfrm>
            <a:off x="594360" y="2670048"/>
            <a:ext cx="0" cy="71323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1762689" name="Text 8"/>
          <p:cNvSpPr/>
          <p:nvPr/>
        </p:nvSpPr>
        <p:spPr bwMode="auto">
          <a:xfrm>
            <a:off x="914400" y="23774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Migrate the architecture</a:t>
            </a:r>
            <a:endParaRPr lang="en-US" sz="1400"/>
          </a:p>
        </p:txBody>
      </p:sp>
      <p:sp>
        <p:nvSpPr>
          <p:cNvPr id="589898171" name="Text 9"/>
          <p:cNvSpPr/>
          <p:nvPr/>
        </p:nvSpPr>
        <p:spPr bwMode="auto">
          <a:xfrm>
            <a:off x="914400" y="267919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50">
                <a:solidFill>
                  <a:srgbClr val="5B6770"/>
                </a:solidFill>
                <a:latin typeface="Calibri"/>
              </a:rPr>
              <a:t>Stand up a Dagster-native silver artifact alongside today's createSignal path. Split group_signal into its four named phases as pure transformations, producing Dagster-native gold objects.</a:t>
            </a:r>
            <a:endParaRPr lang="en-US" sz="1050"/>
          </a:p>
        </p:txBody>
      </p:sp>
      <p:sp>
        <p:nvSpPr>
          <p:cNvPr id="1432702566" name="Shape 10"/>
          <p:cNvSpPr/>
          <p:nvPr/>
        </p:nvSpPr>
        <p:spPr bwMode="auto">
          <a:xfrm>
            <a:off x="457200" y="3401568"/>
            <a:ext cx="274320" cy="27432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8798712" name="Text 11"/>
          <p:cNvSpPr/>
          <p:nvPr/>
        </p:nvSpPr>
        <p:spPr bwMode="auto">
          <a:xfrm>
            <a:off x="914400" y="338328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Cut over</a:t>
            </a:r>
            <a:endParaRPr lang="en-US" sz="1400"/>
          </a:p>
        </p:txBody>
      </p:sp>
      <p:sp>
        <p:nvSpPr>
          <p:cNvPr id="178660944" name="Text 12"/>
          <p:cNvSpPr/>
          <p:nvPr/>
        </p:nvSpPr>
        <p:spPr bwMode="auto">
          <a:xfrm>
            <a:off x="914400" y="36850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50">
                <a:solidFill>
                  <a:srgbClr val="5B6770"/>
                </a:solidFill>
                <a:latin typeface="Calibri"/>
              </a:rPr>
              <a:t>Replace incremental createSignal/Event-create/alert-escalate calls with one validated batch push per finished object. clear-api becomes a pure serving store.</a:t>
            </a:r>
            <a:endParaRPr lang="en-US" sz="1050"/>
          </a:p>
        </p:txBody>
      </p:sp>
      <p:sp>
        <p:nvSpPr>
          <p:cNvPr id="1698210800" name="Shape 13"/>
          <p:cNvSpPr/>
          <p:nvPr/>
        </p:nvSpPr>
        <p:spPr bwMode="auto">
          <a:xfrm>
            <a:off x="5486400" y="1371600"/>
            <a:ext cx="3200400" cy="3200400"/>
          </a:xfrm>
          <a:prstGeom prst="rect">
            <a:avLst/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15461" name="Text 14"/>
          <p:cNvSpPr/>
          <p:nvPr/>
        </p:nvSpPr>
        <p:spPr bwMode="auto">
          <a:xfrm>
            <a:off x="5715000" y="1508759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600" b="1">
                <a:solidFill>
                  <a:srgbClr val="1F2A33"/>
                </a:solidFill>
                <a:latin typeface="Cambria"/>
              </a:rPr>
              <a:t>Failure policy</a:t>
            </a:r>
            <a:endParaRPr lang="en-US" sz="1600"/>
          </a:p>
        </p:txBody>
      </p:sp>
      <p:sp>
        <p:nvSpPr>
          <p:cNvPr id="553045616" name="Text 15"/>
          <p:cNvSpPr/>
          <p:nvPr/>
        </p:nvSpPr>
        <p:spPr bwMode="auto">
          <a:xfrm>
            <a:off x="5715000" y="192024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3520" indent="-111760" algn="l">
              <a:spcAft>
                <a:spcPts val="500"/>
              </a:spcAft>
              <a:buSzPct val="100000"/>
              <a:buChar char="•"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Per-record isolation already exists. One bad record shouldn't block a batch</a:t>
            </a:r>
            <a:endParaRPr lang="en-US" sz="1100"/>
          </a:p>
          <a:p>
            <a:pPr marL="223520" indent="-111760" algn="l">
              <a:spcAft>
                <a:spcPts val="500"/>
              </a:spcAft>
              <a:buChar char="•"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Below threshold: warn. Log and surface on the check, batch proceeds</a:t>
            </a:r>
            <a:endParaRPr/>
          </a:p>
          <a:p>
            <a:pPr marL="223520" indent="-111760" algn="l">
              <a:spcAft>
                <a:spcPts val="500"/>
              </a:spcAft>
              <a:buChar char="•"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Above it: block. The record or object never gets promoted</a:t>
            </a:r>
            <a:endParaRPr/>
          </a:p>
          <a:p>
            <a:pPr marL="223520" indent="-111760" algn="l">
              <a:spcAft>
                <a:spcPts val="500"/>
              </a:spcAft>
              <a:buChar char="•"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Next state: nothing partial ever reaches clear-api</a:t>
            </a:r>
            <a:endParaRPr/>
          </a:p>
        </p:txBody>
      </p:sp>
      <p:sp>
        <p:nvSpPr>
          <p:cNvPr id="862148140" name="Text 16"/>
          <p:cNvSpPr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900">
                <a:solidFill>
                  <a:srgbClr val="5B6770"/>
                </a:solidFill>
                <a:latin typeface="Calibri"/>
              </a:rPr>
              <a:t>CLEAR Context Pipeline  |  Data Quality Design  |  7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4</cp:revision>
  <dcterms:created xsi:type="dcterms:W3CDTF">2026-08-19T11:53:47Z</dcterms:created>
  <dcterms:modified xsi:type="dcterms:W3CDTF">2026-08-31T12:38:44Z</dcterms:modified>
</cp:coreProperties>
</file>