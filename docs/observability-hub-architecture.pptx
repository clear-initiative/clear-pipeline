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92" d="100"/>
          <a:sy n="92" d="100"/>
        </p:scale>
        <p:origin x="184" y="2040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77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7439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2719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031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188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DSN</a:t>
            </a: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sz="1000" b="0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000" b="1" i="0" u="none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Data Source Name</a:t>
            </a:r>
            <a:endParaRPr lang="en-US"/>
          </a:p>
        </p:txBody>
      </p:sp>
      <p:sp>
        <p:nvSpPr>
          <p:cNvPr id="232650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3326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44810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3501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CDEAB1-302B-5B56-0CDD-057F1384E4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65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1370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5985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082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81011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5921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C24139-1A9D-0885-BC8A-687D27DAE3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7446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2968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9822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F2A3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131627" name="Shape 0"/>
          <p:cNvSpPr/>
          <p:nvPr/>
        </p:nvSpPr>
        <p:spPr bwMode="auto">
          <a:xfrm>
            <a:off x="6949440" y="-1097280"/>
            <a:ext cx="3657600" cy="3657600"/>
          </a:xfrm>
          <a:prstGeom prst="ellipse">
            <a:avLst/>
          </a:prstGeom>
          <a:solidFill>
            <a:srgbClr val="FF7602"/>
          </a:solidFill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2394473" name="Text 1"/>
          <p:cNvSpPr/>
          <p:nvPr/>
        </p:nvSpPr>
        <p:spPr bwMode="auto"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4000" b="1">
                <a:solidFill>
                  <a:srgbClr val="FFFFFF"/>
                </a:solidFill>
                <a:latin typeface="Cambria"/>
              </a:rPr>
              <a:t>Observability for the Signals Pipeline</a:t>
            </a:r>
            <a:endParaRPr lang="en-US" sz="4400"/>
          </a:p>
        </p:txBody>
      </p:sp>
      <p:sp>
        <p:nvSpPr>
          <p:cNvPr id="1623588757" name="Text 2"/>
          <p:cNvSpPr/>
          <p:nvPr/>
        </p:nvSpPr>
        <p:spPr bwMode="auto">
          <a:xfrm>
            <a:off x="54864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000">
                <a:solidFill>
                  <a:srgbClr val="FFB27A"/>
                </a:solidFill>
                <a:latin typeface="Calibri"/>
              </a:rPr>
              <a:t>Plugging into the hub that's already there</a:t>
            </a:r>
            <a:endParaRPr lang="en-US" sz="2200"/>
          </a:p>
        </p:txBody>
      </p:sp>
      <p:sp>
        <p:nvSpPr>
          <p:cNvPr id="250914530" name="Text 3"/>
          <p:cNvSpPr/>
          <p:nvPr/>
        </p:nvSpPr>
        <p:spPr bwMode="auto">
          <a:xfrm>
            <a:off x="548640" y="3017519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>
                <a:solidFill>
                  <a:srgbClr val="C9D1D6"/>
                </a:solidFill>
                <a:latin typeface="Calibri"/>
              </a:rPr>
              <a:t>OpenObserve, GlitchTip, and Vector, extended, not replaced</a:t>
            </a:r>
            <a:endParaRPr lang="en-US" sz="1400"/>
          </a:p>
          <a:p>
            <a:pPr marL="0" indent="0">
              <a:buNone/>
              <a:defRPr/>
            </a:pPr>
            <a:r>
              <a:rPr sz="1400">
                <a:solidFill>
                  <a:srgbClr val="C9D1D6"/>
                </a:solidFill>
                <a:latin typeface="Calibri"/>
              </a:rPr>
              <a:t>Engineering design note</a:t>
            </a:r>
            <a:endParaRPr/>
          </a:p>
        </p:txBody>
      </p:sp>
      <p:sp>
        <p:nvSpPr>
          <p:cNvPr id="1469163859" name="Text 4"/>
          <p:cNvSpPr/>
          <p:nvPr/>
        </p:nvSpPr>
        <p:spPr bwMode="auto">
          <a:xfrm>
            <a:off x="54864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8A959C"/>
                </a:solidFill>
                <a:latin typeface="Calibri"/>
              </a:rPr>
              <a:t>clear-context-pipeline  |  docs/observability-hub-design.md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998468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Today: logs and errors exist, metrics don't</a:t>
            </a:r>
            <a:endParaRPr lang="en-US" sz="3000"/>
          </a:p>
        </p:txBody>
      </p:sp>
      <p:sp>
        <p:nvSpPr>
          <p:cNvPr id="1507554831" name="Text 1"/>
          <p:cNvSpPr/>
          <p:nvPr/>
        </p:nvSpPr>
        <p:spPr bwMode="auto"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300" i="1">
                <a:solidFill>
                  <a:srgbClr val="5B6770"/>
                </a:solidFill>
                <a:latin typeface="Calibri"/>
              </a:rPr>
              <a:t>OpenObserve and GlitchTip are already live. Three things aren't wired up.</a:t>
            </a:r>
            <a:endParaRPr lang="en-US" sz="1300"/>
          </a:p>
        </p:txBody>
      </p:sp>
      <p:sp>
        <p:nvSpPr>
          <p:cNvPr id="776981696" name="Shape 2"/>
          <p:cNvSpPr/>
          <p:nvPr/>
        </p:nvSpPr>
        <p:spPr bwMode="auto">
          <a:xfrm>
            <a:off x="45720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3434105" name="Text 3"/>
          <p:cNvSpPr/>
          <p:nvPr/>
        </p:nvSpPr>
        <p:spPr bwMode="auto">
          <a:xfrm>
            <a:off x="64008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400" b="1">
                <a:solidFill>
                  <a:srgbClr val="FF7602"/>
                </a:solidFill>
                <a:latin typeface="Cambria"/>
              </a:rPr>
              <a:t>No metrics</a:t>
            </a:r>
            <a:endParaRPr lang="en-US" sz="4000"/>
          </a:p>
        </p:txBody>
      </p:sp>
      <p:sp>
        <p:nvSpPr>
          <p:cNvPr id="1649072675" name="Text 4"/>
          <p:cNvSpPr/>
          <p:nvPr/>
        </p:nvSpPr>
        <p:spPr bwMode="auto">
          <a:xfrm>
            <a:off x="640080" y="2286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Not host hardware, not Dagster run outcomes, not data-quality pass rate. Nothing pushes anywhere yet.</a:t>
            </a:r>
            <a:endParaRPr lang="en-US" sz="1150"/>
          </a:p>
        </p:txBody>
      </p:sp>
      <p:sp>
        <p:nvSpPr>
          <p:cNvPr id="1504173234" name="Shape 5"/>
          <p:cNvSpPr/>
          <p:nvPr/>
        </p:nvSpPr>
        <p:spPr bwMode="auto">
          <a:xfrm>
            <a:off x="329184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7751376" name="Text 6"/>
          <p:cNvSpPr/>
          <p:nvPr/>
        </p:nvSpPr>
        <p:spPr bwMode="auto">
          <a:xfrm>
            <a:off x="347472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200" b="1">
                <a:solidFill>
                  <a:srgbClr val="FF7602"/>
                </a:solidFill>
                <a:latin typeface="Cambria"/>
              </a:rPr>
              <a:t>No DSN here</a:t>
            </a:r>
            <a:endParaRPr lang="en-US" sz="4000"/>
          </a:p>
        </p:txBody>
      </p:sp>
      <p:sp>
        <p:nvSpPr>
          <p:cNvPr id="2019703724" name="Text 7"/>
          <p:cNvSpPr/>
          <p:nvPr/>
        </p:nvSpPr>
        <p:spPr bwMode="auto">
          <a:xfrm>
            <a:off x="3474720" y="2286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clear-api, clear-mvp, and clear-pipeline all report to GlitchTip. clear-context-pipeline has no project, no DSN.</a:t>
            </a:r>
            <a:endParaRPr lang="en-US" sz="1150"/>
          </a:p>
        </p:txBody>
      </p:sp>
      <p:sp>
        <p:nvSpPr>
          <p:cNvPr id="175940056" name="Shape 8"/>
          <p:cNvSpPr/>
          <p:nvPr/>
        </p:nvSpPr>
        <p:spPr bwMode="auto">
          <a:xfrm>
            <a:off x="612648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0601693" name="Text 9"/>
          <p:cNvSpPr/>
          <p:nvPr/>
        </p:nvSpPr>
        <p:spPr bwMode="auto">
          <a:xfrm>
            <a:off x="6309360" y="1554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000" b="1">
                <a:solidFill>
                  <a:srgbClr val="FF7602"/>
                </a:solidFill>
                <a:latin typeface="Cambria"/>
              </a:rPr>
              <a:t>VM is moving</a:t>
            </a:r>
            <a:endParaRPr lang="en-US" sz="4000"/>
          </a:p>
        </p:txBody>
      </p:sp>
      <p:sp>
        <p:nvSpPr>
          <p:cNvPr id="914991047" name="Text 10"/>
          <p:cNvSpPr/>
          <p:nvPr/>
        </p:nvSpPr>
        <p:spPr bwMode="auto">
          <a:xfrm>
            <a:off x="6309360" y="2286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From Railway to an Infomaniak VM, via clear-infra Terraform. Whatever host visibility existed doesn't carry over.</a:t>
            </a:r>
            <a:endParaRPr lang="en-US" sz="1150"/>
          </a:p>
        </p:txBody>
      </p:sp>
      <p:sp>
        <p:nvSpPr>
          <p:cNvPr id="1512837552" name="Text 11"/>
          <p:cNvSpPr/>
          <p:nvPr/>
        </p:nvSpPr>
        <p:spPr bwMode="auto">
          <a:xfrm>
            <a:off x="457200" y="324612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1F2A33"/>
                </a:solidFill>
                <a:latin typeface="Calibri"/>
              </a:rPr>
              <a:t>Vector already reads every container's stdout, including this repo's Dagster runs. Logs cover the whole data lifecycle already.</a:t>
            </a:r>
            <a:endParaRPr lang="en-US" sz="1300"/>
          </a:p>
          <a:p>
            <a:pPr marL="0" indent="0">
              <a:spcAft>
                <a:spcPts val="600"/>
              </a:spcAft>
              <a:buNone/>
              <a:defRPr/>
            </a:pPr>
            <a:r>
              <a:rPr sz="1300" b="1">
                <a:solidFill>
                  <a:srgbClr val="1F2A33"/>
                </a:solidFill>
                <a:latin typeface="Calibri"/>
              </a:rPr>
              <a:t>The gap is narrower than it looks: three specific things to wire, not a stack to build.</a:t>
            </a:r>
            <a:endParaRPr/>
          </a:p>
        </p:txBody>
      </p:sp>
      <p:sp>
        <p:nvSpPr>
          <p:cNvPr id="1861980431" name="Text 12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Observability Design  |  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714054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What's live, and what's next</a:t>
            </a:r>
            <a:endParaRPr lang="en-US" sz="3000"/>
          </a:p>
        </p:txBody>
      </p:sp>
      <p:sp>
        <p:nvSpPr>
          <p:cNvPr id="349003566" name="Shape 1"/>
          <p:cNvSpPr/>
          <p:nvPr/>
        </p:nvSpPr>
        <p:spPr bwMode="auto">
          <a:xfrm>
            <a:off x="457200" y="1188720"/>
            <a:ext cx="3252866" cy="338328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1787108" name="Text 2"/>
          <p:cNvSpPr/>
          <p:nvPr/>
        </p:nvSpPr>
        <p:spPr bwMode="auto"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500" b="1">
                <a:solidFill>
                  <a:srgbClr val="FF7602"/>
                </a:solidFill>
                <a:latin typeface="Cambria"/>
              </a:rPr>
              <a:t>Already live</a:t>
            </a:r>
            <a:endParaRPr lang="en-US" sz="1500"/>
          </a:p>
        </p:txBody>
      </p:sp>
      <p:sp>
        <p:nvSpPr>
          <p:cNvPr id="439916638" name="Text 3"/>
          <p:cNvSpPr/>
          <p:nvPr/>
        </p:nvSpPr>
        <p:spPr bwMode="auto">
          <a:xfrm>
            <a:off x="640079" y="1737360"/>
            <a:ext cx="288260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3360" indent="-106680" algn="l">
              <a:spcAft>
                <a:spcPts val="400"/>
              </a:spcAft>
              <a:buSzPct val="100000"/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OpenObserve ingests logs from every container via Vector</a:t>
            </a:r>
            <a:endParaRPr lang="en-US" sz="1050"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GlitchTip tracks errors for clear-api, clear-mvp, clear-pipeline</a:t>
            </a:r>
            <a:endParaRPr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Both deployed by clear-infra Terraform, on the Infomaniak VM</a:t>
            </a:r>
            <a:endParaRPr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Vector already has Docker-socket access, no new agent needed</a:t>
            </a:r>
            <a:endParaRPr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OpenObserve stores data in Infomaniak Object Storage, not local disk</a:t>
            </a:r>
            <a:endParaRPr/>
          </a:p>
          <a:p>
            <a:pPr marL="213360" indent="-106680" algn="l">
              <a:spcAft>
                <a:spcPts val="400"/>
              </a:spcAft>
              <a:buChar char="•"/>
              <a:defRPr/>
            </a:pPr>
            <a:r>
              <a:rPr sz="1050">
                <a:solidFill>
                  <a:srgbClr val="1F2A33"/>
                </a:solidFill>
                <a:latin typeface="Calibri"/>
              </a:rPr>
              <a:t>config.py's sentry_dsn is scaffolded but still points nowhere</a:t>
            </a:r>
            <a:endParaRPr/>
          </a:p>
        </p:txBody>
      </p:sp>
      <p:sp>
        <p:nvSpPr>
          <p:cNvPr id="264437812" name="Text 10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Observability Design  |  3</a:t>
            </a:r>
            <a:endParaRPr lang="en-US" sz="900"/>
          </a:p>
        </p:txBody>
      </p:sp>
      <p:sp>
        <p:nvSpPr>
          <p:cNvPr id="57996431" name="Shape 2"/>
          <p:cNvSpPr/>
          <p:nvPr/>
        </p:nvSpPr>
        <p:spPr bwMode="auto">
          <a:xfrm>
            <a:off x="4572000" y="1165860"/>
            <a:ext cx="4114800" cy="3383280"/>
          </a:xfrm>
          <a:prstGeom prst="roundRect">
            <a:avLst>
              <a:gd name="adj" fmla="val 3704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3346782" name="Text 3"/>
          <p:cNvSpPr/>
          <p:nvPr/>
        </p:nvSpPr>
        <p:spPr bwMode="auto">
          <a:xfrm>
            <a:off x="4937760" y="13030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400" b="1">
                <a:solidFill>
                  <a:srgbClr val="FF7602"/>
                </a:solidFill>
                <a:latin typeface="Cambria"/>
              </a:rPr>
              <a:t>Three gaps</a:t>
            </a:r>
            <a:endParaRPr lang="en-US" sz="4000"/>
          </a:p>
        </p:txBody>
      </p:sp>
      <p:sp>
        <p:nvSpPr>
          <p:cNvPr id="2107327014" name="Text 4"/>
          <p:cNvSpPr/>
          <p:nvPr/>
        </p:nvSpPr>
        <p:spPr bwMode="auto">
          <a:xfrm>
            <a:off x="4937760" y="19431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Metrics, a GlitchTip project, and host visibility</a:t>
            </a:r>
            <a:endParaRPr lang="en-US" sz="1100"/>
          </a:p>
        </p:txBody>
      </p:sp>
      <p:sp>
        <p:nvSpPr>
          <p:cNvPr id="658507849" name="Text 5"/>
          <p:cNvSpPr/>
          <p:nvPr/>
        </p:nvSpPr>
        <p:spPr bwMode="auto">
          <a:xfrm>
            <a:off x="4937760" y="24917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2200" b="1">
                <a:solidFill>
                  <a:srgbClr val="1F2A33"/>
                </a:solidFill>
                <a:latin typeface="Cambria"/>
              </a:rPr>
              <a:t>One agent</a:t>
            </a:r>
            <a:endParaRPr lang="en-US" sz="2200"/>
          </a:p>
        </p:txBody>
      </p:sp>
      <p:sp>
        <p:nvSpPr>
          <p:cNvPr id="931332481" name="Text 6"/>
          <p:cNvSpPr/>
          <p:nvPr/>
        </p:nvSpPr>
        <p:spPr bwMode="auto">
          <a:xfrm>
            <a:off x="4937760" y="29489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>
                <a:solidFill>
                  <a:srgbClr val="5B6770"/>
                </a:solidFill>
                <a:latin typeface="Calibri"/>
              </a:rPr>
              <a:t>Vector's host_metrics and prometheus_scrape sources close two of the three, no new container</a:t>
            </a:r>
            <a:endParaRPr lang="en-US" sz="1050"/>
          </a:p>
        </p:txBody>
      </p:sp>
      <p:sp>
        <p:nvSpPr>
          <p:cNvPr id="1310414339" name="Text 7"/>
          <p:cNvSpPr/>
          <p:nvPr/>
        </p:nvSpPr>
        <p:spPr bwMode="auto">
          <a:xfrm>
            <a:off x="4937760" y="35433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00" i="1">
                <a:solidFill>
                  <a:srgbClr val="1F2A33"/>
                </a:solidFill>
                <a:latin typeface="Calibri"/>
              </a:rPr>
              <a:t>The third gap, GlitchTip for this repo, is a Terraform variable and an env var, not new infrastructure.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465558" name="TextBox 1"/>
          <p:cNvSpPr txBox="1"/>
          <p:nvPr/>
        </p:nvSpPr>
        <p:spPr bwMode="auto"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1F2A33"/>
                </a:solidFill>
                <a:latin typeface="Cambria"/>
              </a:rPr>
              <a:t>One shipper, two destinations</a:t>
            </a:r>
            <a:endParaRPr/>
          </a:p>
        </p:txBody>
      </p:sp>
      <p:sp>
        <p:nvSpPr>
          <p:cNvPr id="614278330" name="TextBox 2"/>
          <p:cNvSpPr txBox="1"/>
          <p:nvPr/>
        </p:nvSpPr>
        <p:spPr bwMode="auto">
          <a:xfrm>
            <a:off x="457200" y="914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0" i="1">
                <a:solidFill>
                  <a:srgbClr val="5B6770"/>
                </a:solidFill>
                <a:latin typeface="Calibri"/>
              </a:rPr>
              <a:t>Vector gets extended. OpenObserve and GlitchTip stay exactly where they are.</a:t>
            </a:r>
            <a:endParaRPr/>
          </a:p>
        </p:txBody>
      </p:sp>
      <p:sp>
        <p:nvSpPr>
          <p:cNvPr id="318390414" name="Rounded Rectangle 3"/>
          <p:cNvSpPr/>
          <p:nvPr/>
        </p:nvSpPr>
        <p:spPr bwMode="auto">
          <a:xfrm>
            <a:off x="365760" y="1417320"/>
            <a:ext cx="1783080" cy="50292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200" b="1">
                <a:solidFill>
                  <a:srgbClr val="1F2A33"/>
                </a:solidFill>
                <a:latin typeface="Cambria"/>
              </a:rPr>
              <a:t>Containers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5B6770"/>
                </a:solidFill>
                <a:latin typeface="Calibri"/>
              </a:rPr>
              <a:t>stdout, existing</a:t>
            </a:r>
            <a:endParaRPr/>
          </a:p>
        </p:txBody>
      </p:sp>
      <p:sp>
        <p:nvSpPr>
          <p:cNvPr id="1840236637" name="Rounded Rectangle 4"/>
          <p:cNvSpPr/>
          <p:nvPr/>
        </p:nvSpPr>
        <p:spPr bwMode="auto">
          <a:xfrm>
            <a:off x="365760" y="2011680"/>
            <a:ext cx="1783080" cy="502920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200" b="1">
                <a:solidFill>
                  <a:srgbClr val="FF7602"/>
                </a:solidFill>
                <a:latin typeface="Cambria"/>
              </a:rPr>
              <a:t>Host hardware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1F2A33"/>
                </a:solidFill>
                <a:latin typeface="Calibri"/>
              </a:rPr>
              <a:t>CPU, mem, disk: new</a:t>
            </a:r>
            <a:endParaRPr/>
          </a:p>
        </p:txBody>
      </p:sp>
      <p:sp>
        <p:nvSpPr>
          <p:cNvPr id="740673529" name="Rounded Rectangle 5"/>
          <p:cNvSpPr/>
          <p:nvPr/>
        </p:nvSpPr>
        <p:spPr bwMode="auto">
          <a:xfrm>
            <a:off x="365760" y="2606040"/>
            <a:ext cx="1783080" cy="502920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200" b="1">
                <a:solidFill>
                  <a:srgbClr val="FF7602"/>
                </a:solidFill>
                <a:latin typeface="Cambria"/>
              </a:rPr>
              <a:t>Pushgateway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1F2A33"/>
                </a:solidFill>
                <a:latin typeface="Calibri"/>
              </a:rPr>
              <a:t>Dagster run + DQ metrics: new</a:t>
            </a:r>
            <a:endParaRPr/>
          </a:p>
        </p:txBody>
      </p:sp>
      <p:sp>
        <p:nvSpPr>
          <p:cNvPr id="1205342471" name="Rounded Rectangle 6"/>
          <p:cNvSpPr/>
          <p:nvPr/>
        </p:nvSpPr>
        <p:spPr bwMode="auto">
          <a:xfrm>
            <a:off x="2606040" y="1691640"/>
            <a:ext cx="1417320" cy="1051560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500" b="1">
                <a:solidFill>
                  <a:srgbClr val="FF7602"/>
                </a:solidFill>
                <a:latin typeface="Cambria"/>
              </a:rPr>
              <a:t>Vector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1F2A33"/>
                </a:solidFill>
                <a:latin typeface="Calibri"/>
              </a:rPr>
              <a:t>one shipper, extended</a:t>
            </a:r>
            <a:endParaRPr/>
          </a:p>
        </p:txBody>
      </p:sp>
      <p:cxnSp>
        <p:nvCxnSpPr>
          <p:cNvPr id="18742004" name="Connector 7"/>
          <p:cNvCxnSpPr/>
          <p:nvPr/>
        </p:nvCxnSpPr>
        <p:spPr bwMode="auto">
          <a:xfrm>
            <a:off x="2148840" y="1668780"/>
            <a:ext cx="457200" cy="548640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8595731" name="Connector 8"/>
          <p:cNvCxnSpPr/>
          <p:nvPr/>
        </p:nvCxnSpPr>
        <p:spPr bwMode="auto">
          <a:xfrm flipV="1">
            <a:off x="2148840" y="2217420"/>
            <a:ext cx="457200" cy="45720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607356" name="Connector 9"/>
          <p:cNvCxnSpPr/>
          <p:nvPr/>
        </p:nvCxnSpPr>
        <p:spPr bwMode="auto">
          <a:xfrm flipV="1">
            <a:off x="2148840" y="2217420"/>
            <a:ext cx="457200" cy="640080"/>
          </a:xfrm>
          <a:prstGeom prst="line">
            <a:avLst/>
          </a:prstGeom>
          <a:ln w="12700">
            <a:solidFill>
              <a:srgbClr val="5B67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2614521" name="Rounded Rectangle 10"/>
          <p:cNvSpPr/>
          <p:nvPr/>
        </p:nvSpPr>
        <p:spPr bwMode="auto">
          <a:xfrm>
            <a:off x="4526280" y="1691640"/>
            <a:ext cx="1600200" cy="1051560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500" b="1">
                <a:solidFill>
                  <a:srgbClr val="FF7602"/>
                </a:solidFill>
                <a:latin typeface="Cambria"/>
              </a:rPr>
              <a:t>OpenObserve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1F2A33"/>
                </a:solidFill>
                <a:latin typeface="Calibri"/>
              </a:rPr>
              <a:t>logs + metrics</a:t>
            </a:r>
            <a:endParaRPr/>
          </a:p>
        </p:txBody>
      </p:sp>
      <p:cxnSp>
        <p:nvCxnSpPr>
          <p:cNvPr id="2065451909" name="Connector 11"/>
          <p:cNvCxnSpPr/>
          <p:nvPr/>
        </p:nvCxnSpPr>
        <p:spPr bwMode="auto">
          <a:xfrm>
            <a:off x="4023360" y="2217420"/>
            <a:ext cx="502920" cy="0"/>
          </a:xfrm>
          <a:prstGeom prst="line">
            <a:avLst/>
          </a:prstGeom>
          <a:ln w="17780">
            <a:solidFill>
              <a:srgbClr val="FF760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136399" name="TextBox 12"/>
          <p:cNvSpPr txBox="1"/>
          <p:nvPr/>
        </p:nvSpPr>
        <p:spPr bwMode="auto">
          <a:xfrm>
            <a:off x="4069080" y="1673352"/>
            <a:ext cx="4114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00" b="1" i="0">
                <a:solidFill>
                  <a:srgbClr val="FF7602"/>
                </a:solidFill>
                <a:latin typeface="Calibri"/>
              </a:rPr>
              <a:t>existing</a:t>
            </a:r>
            <a:endParaRPr/>
          </a:p>
          <a:p>
            <a:pPr algn="ctr">
              <a:defRPr/>
            </a:pPr>
            <a:r>
              <a:rPr sz="800" b="1" i="0">
                <a:solidFill>
                  <a:srgbClr val="FF7602"/>
                </a:solidFill>
                <a:latin typeface="Calibri"/>
              </a:rPr>
              <a:t>+ new</a:t>
            </a:r>
            <a:endParaRPr/>
          </a:p>
        </p:txBody>
      </p:sp>
      <p:sp>
        <p:nvSpPr>
          <p:cNvPr id="489814403" name="Rounded Rectangle 13"/>
          <p:cNvSpPr/>
          <p:nvPr/>
        </p:nvSpPr>
        <p:spPr bwMode="auto">
          <a:xfrm>
            <a:off x="365760" y="3429000"/>
            <a:ext cx="1325880" cy="59436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 w="15875">
            <a:solidFill>
              <a:srgbClr val="B7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150" b="1">
                <a:solidFill>
                  <a:srgbClr val="1F2A33"/>
                </a:solidFill>
                <a:latin typeface="Cambria"/>
              </a:rPr>
              <a:t>clear-api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5B6770"/>
                </a:solidFill>
                <a:latin typeface="Calibri"/>
              </a:rPr>
              <a:t>existing</a:t>
            </a:r>
            <a:endParaRPr/>
          </a:p>
        </p:txBody>
      </p:sp>
      <p:sp>
        <p:nvSpPr>
          <p:cNvPr id="1839865779" name="Rounded Rectangle 14"/>
          <p:cNvSpPr/>
          <p:nvPr/>
        </p:nvSpPr>
        <p:spPr bwMode="auto">
          <a:xfrm>
            <a:off x="1874519" y="3429000"/>
            <a:ext cx="1325880" cy="59436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 w="15875">
            <a:solidFill>
              <a:srgbClr val="B7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150" b="1">
                <a:solidFill>
                  <a:srgbClr val="1F2A33"/>
                </a:solidFill>
                <a:latin typeface="Cambria"/>
              </a:rPr>
              <a:t>clear-mvp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5B6770"/>
                </a:solidFill>
                <a:latin typeface="Calibri"/>
              </a:rPr>
              <a:t>existing</a:t>
            </a:r>
            <a:endParaRPr/>
          </a:p>
        </p:txBody>
      </p:sp>
      <p:sp>
        <p:nvSpPr>
          <p:cNvPr id="1164490312" name="Rounded Rectangle 15"/>
          <p:cNvSpPr/>
          <p:nvPr/>
        </p:nvSpPr>
        <p:spPr bwMode="auto">
          <a:xfrm>
            <a:off x="3383280" y="3429000"/>
            <a:ext cx="1325880" cy="594360"/>
          </a:xfrm>
          <a:prstGeom prst="roundRect">
            <a:avLst>
              <a:gd name="adj" fmla="val 10000"/>
            </a:avLst>
          </a:prstGeom>
          <a:solidFill>
            <a:srgbClr val="E8ECEF"/>
          </a:solidFill>
          <a:ln w="15875">
            <a:solidFill>
              <a:srgbClr val="B7C0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150" b="1">
                <a:solidFill>
                  <a:srgbClr val="1F2A33"/>
                </a:solidFill>
                <a:latin typeface="Cambria"/>
              </a:rPr>
              <a:t>clear-pipeline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5B6770"/>
                </a:solidFill>
                <a:latin typeface="Calibri"/>
              </a:rPr>
              <a:t>existing</a:t>
            </a:r>
            <a:endParaRPr/>
          </a:p>
        </p:txBody>
      </p:sp>
      <p:sp>
        <p:nvSpPr>
          <p:cNvPr id="1807944088" name="Rounded Rectangle 16"/>
          <p:cNvSpPr/>
          <p:nvPr/>
        </p:nvSpPr>
        <p:spPr bwMode="auto">
          <a:xfrm>
            <a:off x="4892039" y="3429000"/>
            <a:ext cx="1600200" cy="594360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5875">
            <a:solidFill>
              <a:srgbClr val="FF76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150" b="1">
                <a:solidFill>
                  <a:srgbClr val="FF7602"/>
                </a:solidFill>
                <a:latin typeface="Cambria"/>
              </a:rPr>
              <a:t>clear-context-</a:t>
            </a:r>
            <a:br>
              <a:rPr sz="1150" b="1">
                <a:solidFill>
                  <a:srgbClr val="FF7602"/>
                </a:solidFill>
                <a:latin typeface="Cambria"/>
              </a:rPr>
            </a:br>
            <a:r>
              <a:rPr sz="1150" b="1">
                <a:solidFill>
                  <a:srgbClr val="FF7602"/>
                </a:solidFill>
                <a:latin typeface="Cambria"/>
              </a:rPr>
              <a:t>pipeline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1F2A33"/>
                </a:solidFill>
                <a:latin typeface="Calibri"/>
              </a:rPr>
              <a:t>new project</a:t>
            </a:r>
            <a:endParaRPr/>
          </a:p>
        </p:txBody>
      </p:sp>
      <p:sp>
        <p:nvSpPr>
          <p:cNvPr id="576883846" name="Rounded Rectangle 17"/>
          <p:cNvSpPr/>
          <p:nvPr/>
        </p:nvSpPr>
        <p:spPr bwMode="auto">
          <a:xfrm>
            <a:off x="6903720" y="3429000"/>
            <a:ext cx="1417320" cy="594360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>
              <a:defRPr/>
            </a:pPr>
            <a:r>
              <a:rPr sz="1400" b="1">
                <a:solidFill>
                  <a:srgbClr val="FF7602"/>
                </a:solidFill>
                <a:latin typeface="Cambria"/>
              </a:rPr>
              <a:t>GlitchTip</a:t>
            </a:r>
            <a:endParaRPr/>
          </a:p>
          <a:p>
            <a:pPr algn="ctr">
              <a:spcBef>
                <a:spcPts val="200"/>
              </a:spcBef>
              <a:defRPr/>
            </a:pPr>
            <a:r>
              <a:rPr sz="850">
                <a:solidFill>
                  <a:srgbClr val="1F2A33"/>
                </a:solidFill>
                <a:latin typeface="Calibri"/>
              </a:rPr>
              <a:t>errors</a:t>
            </a:r>
            <a:endParaRPr/>
          </a:p>
        </p:txBody>
      </p:sp>
      <p:cxnSp>
        <p:nvCxnSpPr>
          <p:cNvPr id="1259720639" name="Connector 18"/>
          <p:cNvCxnSpPr/>
          <p:nvPr/>
        </p:nvCxnSpPr>
        <p:spPr bwMode="auto">
          <a:xfrm>
            <a:off x="1691640" y="3538728"/>
            <a:ext cx="5212080" cy="187452"/>
          </a:xfrm>
          <a:prstGeom prst="line">
            <a:avLst/>
          </a:prstGeom>
          <a:ln w="12700">
            <a:solidFill>
              <a:srgbClr val="B7C0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777606" name="Connector 19"/>
          <p:cNvCxnSpPr/>
          <p:nvPr/>
        </p:nvCxnSpPr>
        <p:spPr bwMode="auto">
          <a:xfrm>
            <a:off x="3200400" y="3685032"/>
            <a:ext cx="3703320" cy="41148"/>
          </a:xfrm>
          <a:prstGeom prst="line">
            <a:avLst/>
          </a:prstGeom>
          <a:ln w="12700">
            <a:solidFill>
              <a:srgbClr val="B7C0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794444" name="Connector 20"/>
          <p:cNvCxnSpPr/>
          <p:nvPr/>
        </p:nvCxnSpPr>
        <p:spPr bwMode="auto">
          <a:xfrm flipV="1">
            <a:off x="4709160" y="3726180"/>
            <a:ext cx="2194560" cy="105156"/>
          </a:xfrm>
          <a:prstGeom prst="line">
            <a:avLst/>
          </a:prstGeom>
          <a:ln w="12700">
            <a:solidFill>
              <a:srgbClr val="B7C0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343873" name="Connector 21"/>
          <p:cNvCxnSpPr/>
          <p:nvPr/>
        </p:nvCxnSpPr>
        <p:spPr bwMode="auto">
          <a:xfrm flipV="1">
            <a:off x="6492240" y="3726180"/>
            <a:ext cx="411480" cy="233172"/>
          </a:xfrm>
          <a:prstGeom prst="line">
            <a:avLst/>
          </a:prstGeom>
          <a:ln w="19050">
            <a:solidFill>
              <a:srgbClr val="FF760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544511" name="TextBox 22"/>
          <p:cNvSpPr txBox="1"/>
          <p:nvPr/>
        </p:nvSpPr>
        <p:spPr bwMode="auto">
          <a:xfrm>
            <a:off x="2926080" y="319125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850" b="1" i="0">
                <a:solidFill>
                  <a:srgbClr val="5B6770"/>
                </a:solidFill>
                <a:latin typeface="Calibri"/>
              </a:rPr>
              <a:t>SENTRY_DSN</a:t>
            </a:r>
            <a:endParaRPr/>
          </a:p>
        </p:txBody>
      </p:sp>
      <p:sp>
        <p:nvSpPr>
          <p:cNvPr id="1323907473" name="TextBox 23"/>
          <p:cNvSpPr txBox="1"/>
          <p:nvPr/>
        </p:nvSpPr>
        <p:spPr bwMode="auto">
          <a:xfrm>
            <a:off x="457200" y="425196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1300" b="1" i="0">
                <a:solidFill>
                  <a:srgbClr val="1F2A33"/>
                </a:solidFill>
                <a:latin typeface="Calibri"/>
              </a:rPr>
              <a:t>Vector gets two new sources. GlitchTip gets one new project. Nothing else changes.</a:t>
            </a:r>
            <a:endParaRPr/>
          </a:p>
        </p:txBody>
      </p:sp>
      <p:sp>
        <p:nvSpPr>
          <p:cNvPr id="1276893057" name="TextBox 24"/>
          <p:cNvSpPr txBox="1"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/>
            </a:pPr>
            <a:r>
              <a:rPr sz="900" b="0" i="0">
                <a:solidFill>
                  <a:srgbClr val="5B6770"/>
                </a:solidFill>
                <a:latin typeface="Calibri"/>
              </a:rPr>
              <a:t>CLEAR Context Pipeline  |  Observability Design  |  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351777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Why extend Vector, not add an agent</a:t>
            </a:r>
            <a:endParaRPr lang="en-US" sz="3000"/>
          </a:p>
        </p:txBody>
      </p:sp>
      <p:sp>
        <p:nvSpPr>
          <p:cNvPr id="527946391" name="Text 1"/>
          <p:cNvSpPr/>
          <p:nvPr/>
        </p:nvSpPr>
        <p:spPr bwMode="auto"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300" i="1">
                <a:solidFill>
                  <a:srgbClr val="5B6770"/>
                </a:solidFill>
                <a:latin typeface="Calibri"/>
              </a:rPr>
              <a:t>Reuse what's already trusted, not a generic preference</a:t>
            </a:r>
            <a:endParaRPr lang="en-US" sz="1300"/>
          </a:p>
        </p:txBody>
      </p:sp>
      <p:sp>
        <p:nvSpPr>
          <p:cNvPr id="910070822" name="Shape 2"/>
          <p:cNvSpPr/>
          <p:nvPr/>
        </p:nvSpPr>
        <p:spPr bwMode="auto">
          <a:xfrm>
            <a:off x="457200" y="1463040"/>
            <a:ext cx="2606040" cy="310896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9028207" name="Shape 3"/>
          <p:cNvSpPr/>
          <p:nvPr/>
        </p:nvSpPr>
        <p:spPr bwMode="auto">
          <a:xfrm>
            <a:off x="640080" y="1645920"/>
            <a:ext cx="502920" cy="5029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3525992" name="Text 4"/>
          <p:cNvSpPr/>
          <p:nvPr/>
        </p:nvSpPr>
        <p:spPr bwMode="auto"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  <a:endParaRPr lang="en-US" sz="1800"/>
          </a:p>
        </p:txBody>
      </p:sp>
      <p:sp>
        <p:nvSpPr>
          <p:cNvPr id="1406471195" name="Text 5"/>
          <p:cNvSpPr/>
          <p:nvPr/>
        </p:nvSpPr>
        <p:spPr bwMode="auto">
          <a:xfrm>
            <a:off x="64008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500" b="1">
                <a:solidFill>
                  <a:srgbClr val="1F2A33"/>
                </a:solidFill>
                <a:latin typeface="Calibri"/>
              </a:rPr>
              <a:t>One shipper, not two</a:t>
            </a:r>
            <a:endParaRPr lang="en-US" sz="1500"/>
          </a:p>
        </p:txBody>
      </p:sp>
      <p:sp>
        <p:nvSpPr>
          <p:cNvPr id="1639785512" name="Text 6"/>
          <p:cNvSpPr/>
          <p:nvPr/>
        </p:nvSpPr>
        <p:spPr bwMode="auto">
          <a:xfrm>
            <a:off x="64008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Vector already has Docker-socket access and a config pattern the team owns. host_metrics and prometheus_scrape are two more sources on the same agent, not a second one to run and trust.</a:t>
            </a:r>
            <a:endParaRPr lang="en-US" sz="1150"/>
          </a:p>
        </p:txBody>
      </p:sp>
      <p:sp>
        <p:nvSpPr>
          <p:cNvPr id="1912360854" name="Shape 7"/>
          <p:cNvSpPr/>
          <p:nvPr/>
        </p:nvSpPr>
        <p:spPr bwMode="auto">
          <a:xfrm>
            <a:off x="3291840" y="1463040"/>
            <a:ext cx="2606040" cy="310896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13763170" name="Shape 8"/>
          <p:cNvSpPr/>
          <p:nvPr/>
        </p:nvSpPr>
        <p:spPr bwMode="auto">
          <a:xfrm>
            <a:off x="3474720" y="1645920"/>
            <a:ext cx="502920" cy="5029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3264946" name="Text 9"/>
          <p:cNvSpPr/>
          <p:nvPr/>
        </p:nvSpPr>
        <p:spPr bwMode="auto">
          <a:xfrm>
            <a:off x="34747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  <a:endParaRPr lang="en-US" sz="1800"/>
          </a:p>
        </p:txBody>
      </p:sp>
      <p:sp>
        <p:nvSpPr>
          <p:cNvPr id="818783388" name="Text 10"/>
          <p:cNvSpPr/>
          <p:nvPr/>
        </p:nvSpPr>
        <p:spPr bwMode="auto">
          <a:xfrm>
            <a:off x="347472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500" b="1">
                <a:solidFill>
                  <a:srgbClr val="1F2A33"/>
                </a:solidFill>
                <a:latin typeface="Calibri"/>
              </a:rPr>
              <a:t>Pushgateway still fits</a:t>
            </a:r>
            <a:endParaRPr lang="en-US" sz="1500"/>
          </a:p>
        </p:txBody>
      </p:sp>
      <p:sp>
        <p:nvSpPr>
          <p:cNvPr id="551424458" name="Text 11"/>
          <p:cNvSpPr/>
          <p:nvPr/>
        </p:nvSpPr>
        <p:spPr bwMode="auto">
          <a:xfrm>
            <a:off x="347472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A Dagster run isn't a scrape target. Pushgateway is the standard Prometheus-ecosystem fix for exactly that, unchanged from the original design, just scraped by Vector instead of a standalone Prometheus.</a:t>
            </a:r>
            <a:endParaRPr lang="en-US" sz="1150"/>
          </a:p>
        </p:txBody>
      </p:sp>
      <p:sp>
        <p:nvSpPr>
          <p:cNvPr id="1708909880" name="Shape 12"/>
          <p:cNvSpPr/>
          <p:nvPr/>
        </p:nvSpPr>
        <p:spPr bwMode="auto">
          <a:xfrm>
            <a:off x="6126480" y="1463040"/>
            <a:ext cx="2606040" cy="3108960"/>
          </a:xfrm>
          <a:prstGeom prst="rect">
            <a:avLst/>
          </a:prstGeom>
          <a:solidFill>
            <a:srgbClr val="E8ECEF"/>
          </a:solidFill>
          <a:ln w="12700">
            <a:solidFill>
              <a:srgbClr val="E8ECEF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1592067" name="Shape 13"/>
          <p:cNvSpPr/>
          <p:nvPr/>
        </p:nvSpPr>
        <p:spPr bwMode="auto">
          <a:xfrm>
            <a:off x="6309360" y="1645920"/>
            <a:ext cx="502920" cy="5029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736849" name="Text 14"/>
          <p:cNvSpPr/>
          <p:nvPr/>
        </p:nvSpPr>
        <p:spPr bwMode="auto">
          <a:xfrm>
            <a:off x="63093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  <a:endParaRPr lang="en-US" sz="1800"/>
          </a:p>
        </p:txBody>
      </p:sp>
      <p:sp>
        <p:nvSpPr>
          <p:cNvPr id="513292851" name="Text 15"/>
          <p:cNvSpPr/>
          <p:nvPr/>
        </p:nvSpPr>
        <p:spPr bwMode="auto">
          <a:xfrm>
            <a:off x="630936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500" b="1">
                <a:solidFill>
                  <a:srgbClr val="1F2A33"/>
                </a:solidFill>
                <a:latin typeface="Calibri"/>
              </a:rPr>
              <a:t>OTLP stays in reach</a:t>
            </a:r>
            <a:endParaRPr lang="en-US" sz="1500"/>
          </a:p>
        </p:txBody>
      </p:sp>
      <p:sp>
        <p:nvSpPr>
          <p:cNvPr id="1143440006" name="Text 16"/>
          <p:cNvSpPr/>
          <p:nvPr/>
        </p:nvSpPr>
        <p:spPr bwMode="auto">
          <a:xfrm>
            <a:off x="6309360" y="29260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OpenObserve speaks OTLP natively. Instrumenting through open standards where a choice exists keeps a future backend swap from meaning a re-instrumentation project.</a:t>
            </a:r>
            <a:endParaRPr lang="en-US" sz="1150"/>
          </a:p>
        </p:txBody>
      </p:sp>
      <p:sp>
        <p:nvSpPr>
          <p:cNvPr id="701000147" name="Text 17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Observability Design  |  5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369427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What ships now, and what's deferred</a:t>
            </a:r>
            <a:endParaRPr lang="en-US" sz="3000"/>
          </a:p>
        </p:txBody>
      </p:sp>
      <p:sp>
        <p:nvSpPr>
          <p:cNvPr id="803837359" name="Shape 1"/>
          <p:cNvSpPr/>
          <p:nvPr/>
        </p:nvSpPr>
        <p:spPr bwMode="auto">
          <a:xfrm>
            <a:off x="457200" y="123444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4758563" name="Text 2"/>
          <p:cNvSpPr/>
          <p:nvPr/>
        </p:nvSpPr>
        <p:spPr bwMode="auto">
          <a:xfrm>
            <a:off x="91440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Extend Vector, not replace it</a:t>
            </a:r>
            <a:endParaRPr lang="en-US" sz="1400"/>
          </a:p>
        </p:txBody>
      </p:sp>
      <p:sp>
        <p:nvSpPr>
          <p:cNvPr id="564185392" name="Text 3"/>
          <p:cNvSpPr/>
          <p:nvPr/>
        </p:nvSpPr>
        <p:spPr bwMode="auto">
          <a:xfrm>
            <a:off x="914400" y="1508759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host_metrics and prometheus_scrape sources, one new prometheus_remote_write sink. The existing docker_logs source and openobserve sink don't change.</a:t>
            </a:r>
            <a:endParaRPr lang="en-US" sz="1150"/>
          </a:p>
        </p:txBody>
      </p:sp>
      <p:sp>
        <p:nvSpPr>
          <p:cNvPr id="1261800145" name="Shape 4"/>
          <p:cNvSpPr/>
          <p:nvPr/>
        </p:nvSpPr>
        <p:spPr bwMode="auto">
          <a:xfrm>
            <a:off x="457200" y="210312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9266925" name="Text 5"/>
          <p:cNvSpPr/>
          <p:nvPr/>
        </p:nvSpPr>
        <p:spPr bwMode="auto">
          <a:xfrm>
            <a:off x="91440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Pushgateway for Dagster metrics</a:t>
            </a:r>
            <a:endParaRPr lang="en-US" sz="1400"/>
          </a:p>
        </p:txBody>
      </p:sp>
      <p:sp>
        <p:nvSpPr>
          <p:cNvPr id="1669276206" name="Text 6"/>
          <p:cNvSpPr/>
          <p:nvPr/>
        </p:nvSpPr>
        <p:spPr bwMode="auto">
          <a:xfrm>
            <a:off x="914400" y="2377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One small container. Receives run outcome and data-quality pass rate from the run_status_sensor, unchanged from the original design.</a:t>
            </a:r>
            <a:endParaRPr lang="en-US" sz="1150"/>
          </a:p>
        </p:txBody>
      </p:sp>
      <p:sp>
        <p:nvSpPr>
          <p:cNvPr id="1455021725" name="Shape 7"/>
          <p:cNvSpPr/>
          <p:nvPr/>
        </p:nvSpPr>
        <p:spPr bwMode="auto">
          <a:xfrm>
            <a:off x="457200" y="297180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0647831" name="Text 8"/>
          <p:cNvSpPr/>
          <p:nvPr/>
        </p:nvSpPr>
        <p:spPr bwMode="auto">
          <a:xfrm>
            <a:off x="91440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A fourth GlitchTip project</a:t>
            </a:r>
            <a:endParaRPr lang="en-US" sz="1400"/>
          </a:p>
        </p:txBody>
      </p:sp>
      <p:sp>
        <p:nvSpPr>
          <p:cNvPr id="560639674" name="Text 9"/>
          <p:cNvSpPr/>
          <p:nvPr/>
        </p:nvSpPr>
        <p:spPr bwMode="auto">
          <a:xfrm>
            <a:off x="91440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clear-context-pipeline gets the same SENTRY_DSN treatment as clear-api, clear-mvp, and clear-pipeline already have.</a:t>
            </a:r>
            <a:endParaRPr lang="en-US" sz="1150"/>
          </a:p>
        </p:txBody>
      </p:sp>
      <p:sp>
        <p:nvSpPr>
          <p:cNvPr id="2000732236" name="Shape 10"/>
          <p:cNvSpPr/>
          <p:nvPr/>
        </p:nvSpPr>
        <p:spPr bwMode="auto">
          <a:xfrm>
            <a:off x="457200" y="384048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075053" name="Text 11"/>
          <p:cNvSpPr/>
          <p:nvPr/>
        </p:nvSpPr>
        <p:spPr bwMode="auto">
          <a:xfrm>
            <a:off x="91440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Dashboards and logs, still no alert routing</a:t>
            </a:r>
            <a:endParaRPr lang="en-US" sz="1400"/>
          </a:p>
        </p:txBody>
      </p:sp>
      <p:sp>
        <p:nvSpPr>
          <p:cNvPr id="1487842152" name="Text 12"/>
          <p:cNvSpPr/>
          <p:nvPr/>
        </p:nvSpPr>
        <p:spPr bwMode="auto">
          <a:xfrm>
            <a:off x="914400" y="4114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OpenObserve's own alert rules stay unconfigured. Same scope as before, just against the real stack.</a:t>
            </a:r>
            <a:endParaRPr lang="en-US" sz="1150"/>
          </a:p>
        </p:txBody>
      </p:sp>
      <p:sp>
        <p:nvSpPr>
          <p:cNvPr id="1262744019" name="Shape 13"/>
          <p:cNvSpPr/>
          <p:nvPr/>
        </p:nvSpPr>
        <p:spPr bwMode="auto">
          <a:xfrm>
            <a:off x="5486400" y="118872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4222602" name="Text 14"/>
          <p:cNvSpPr/>
          <p:nvPr/>
        </p:nvSpPr>
        <p:spPr bwMode="auto">
          <a:xfrm>
            <a:off x="57607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500" b="1">
                <a:solidFill>
                  <a:srgbClr val="FFB27A"/>
                </a:solidFill>
                <a:latin typeface="Cambria"/>
              </a:rPr>
              <a:t>Not in this pass</a:t>
            </a:r>
            <a:endParaRPr lang="en-US" sz="1700"/>
          </a:p>
        </p:txBody>
      </p:sp>
      <p:sp>
        <p:nvSpPr>
          <p:cNvPr id="670102689" name="Text 15"/>
          <p:cNvSpPr/>
          <p:nvPr/>
        </p:nvSpPr>
        <p:spPr bwMode="auto">
          <a:xfrm>
            <a:off x="5760720" y="1783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Tracing</a:t>
            </a:r>
            <a:endParaRPr lang="en-US" sz="1100"/>
          </a:p>
          <a:p>
            <a:pPr marL="0" indent="0">
              <a:buNone/>
              <a:defRPr/>
            </a:pPr>
            <a:r>
              <a:rPr sz="1050">
                <a:solidFill>
                  <a:srgbClr val="FFFFFF"/>
                </a:solidFill>
                <a:latin typeface="Calibri"/>
              </a:rPr>
              <a:t>OpenObserve speaks OTLP, but nothing exports traces yet. Still a later pass.</a:t>
            </a:r>
            <a:endParaRPr/>
          </a:p>
          <a:p>
            <a:pPr marL="0" indent="0">
              <a:buNone/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True per-run isolation</a:t>
            </a:r>
            <a:endParaRPr/>
          </a:p>
          <a:p>
            <a:pPr marL="0" indent="0">
              <a:buNone/>
              <a:defRPr/>
            </a:pPr>
            <a:r>
              <a:rPr sz="1050">
                <a:solidFill>
                  <a:srgbClr val="FFFFFF"/>
                </a:solidFill>
                <a:latin typeface="Calibri"/>
              </a:rPr>
              <a:t>Dagster forks each run as a subprocess of the daemon container. No metrics backend fixes that; it needs DockerRunLauncher, a separate infra decision.</a:t>
            </a:r>
            <a:endParaRPr/>
          </a:p>
          <a:p>
            <a:pPr marL="0" indent="0">
              <a:buNone/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Host OS logs</a:t>
            </a:r>
            <a:endParaRPr/>
          </a:p>
          <a:p>
            <a:pPr marL="0" indent="0">
              <a:buNone/>
              <a:defRPr/>
            </a:pPr>
            <a:r>
              <a:rPr sz="1050">
                <a:solidFill>
                  <a:srgbClr val="FFFFFF"/>
                </a:solidFill>
                <a:latin typeface="Calibri"/>
              </a:rPr>
              <a:t>journald, syslog, and files like Caddy's access log are an easy Vector addition later, not scoped into this pass.</a:t>
            </a:r>
            <a:endParaRPr/>
          </a:p>
        </p:txBody>
      </p:sp>
      <p:sp>
        <p:nvSpPr>
          <p:cNvPr id="1531640990" name="Text 16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Observability Design  |  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258404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Limitations, and where a standard fits better</a:t>
            </a:r>
            <a:endParaRPr lang="en-US" sz="3000"/>
          </a:p>
        </p:txBody>
      </p:sp>
      <p:sp>
        <p:nvSpPr>
          <p:cNvPr id="963894209" name="Shape 1"/>
          <p:cNvSpPr/>
          <p:nvPr/>
        </p:nvSpPr>
        <p:spPr bwMode="auto">
          <a:xfrm>
            <a:off x="457200" y="123444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854277" name="Text 2"/>
          <p:cNvSpPr/>
          <p:nvPr/>
        </p:nvSpPr>
        <p:spPr bwMode="auto">
          <a:xfrm>
            <a:off x="914400" y="1188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Single VM, shared fate</a:t>
            </a:r>
            <a:endParaRPr lang="en-US" sz="1400"/>
          </a:p>
        </p:txBody>
      </p:sp>
      <p:sp>
        <p:nvSpPr>
          <p:cNvPr id="408338826" name="Text 3"/>
          <p:cNvSpPr/>
          <p:nvPr/>
        </p:nvSpPr>
        <p:spPr bwMode="auto">
          <a:xfrm>
            <a:off x="914400" y="1508759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App, Vector, OpenObserve, and GlitchTip all run on one box. OpenObserve's data survives in Object Storage; live visibility doesn't, during an outage of that same box.</a:t>
            </a:r>
            <a:endParaRPr lang="en-US" sz="1150"/>
          </a:p>
        </p:txBody>
      </p:sp>
      <p:sp>
        <p:nvSpPr>
          <p:cNvPr id="1990142798" name="Shape 4"/>
          <p:cNvSpPr/>
          <p:nvPr/>
        </p:nvSpPr>
        <p:spPr bwMode="auto">
          <a:xfrm>
            <a:off x="457200" y="210312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1558963" name="Text 5"/>
          <p:cNvSpPr/>
          <p:nvPr/>
        </p:nvSpPr>
        <p:spPr bwMode="auto">
          <a:xfrm>
            <a:off x="91440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Vector holds host-root-equivalent access</a:t>
            </a:r>
            <a:endParaRPr lang="en-US" sz="1400"/>
          </a:p>
        </p:txBody>
      </p:sp>
      <p:sp>
        <p:nvSpPr>
          <p:cNvPr id="1423838921" name="Text 6"/>
          <p:cNvSpPr/>
          <p:nvPr/>
        </p:nvSpPr>
        <p:spPr bwMode="auto">
          <a:xfrm>
            <a:off x="914400" y="2377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The Docker socket mount is that, for any docker_logs-style shipper. True of Promtail too, not unique to Vector, worth stating plainly.</a:t>
            </a:r>
            <a:endParaRPr lang="en-US" sz="1150"/>
          </a:p>
        </p:txBody>
      </p:sp>
      <p:sp>
        <p:nvSpPr>
          <p:cNvPr id="1275511704" name="Shape 7"/>
          <p:cNvSpPr/>
          <p:nvPr/>
        </p:nvSpPr>
        <p:spPr bwMode="auto">
          <a:xfrm>
            <a:off x="457200" y="297180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8097826" name="Text 8"/>
          <p:cNvSpPr/>
          <p:nvPr/>
        </p:nvSpPr>
        <p:spPr bwMode="auto">
          <a:xfrm>
            <a:off x="91440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OpenObserve is younger than Prometheus, Grafana, and Loki</a:t>
            </a:r>
            <a:endParaRPr lang="en-US" sz="1400"/>
          </a:p>
        </p:txBody>
      </p:sp>
      <p:sp>
        <p:nvSpPr>
          <p:cNvPr id="1496812403" name="Text 9"/>
          <p:cNvSpPr/>
          <p:nvPr/>
        </p:nvSpPr>
        <p:spPr bwMode="auto">
          <a:xfrm>
            <a:off x="91440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Its own query language, smaller dashboard ecosystem, less battle-tested alerting. Mitigate by instrumenting through OTLP wherever there's a choice.</a:t>
            </a:r>
            <a:endParaRPr lang="en-US" sz="1150"/>
          </a:p>
        </p:txBody>
      </p:sp>
      <p:sp>
        <p:nvSpPr>
          <p:cNvPr id="273941185" name="Shape 10"/>
          <p:cNvSpPr/>
          <p:nvPr/>
        </p:nvSpPr>
        <p:spPr bwMode="auto">
          <a:xfrm>
            <a:off x="457200" y="3840480"/>
            <a:ext cx="320040" cy="32004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3435718" name="Text 11"/>
          <p:cNvSpPr/>
          <p:nvPr/>
        </p:nvSpPr>
        <p:spPr bwMode="auto">
          <a:xfrm>
            <a:off x="914400" y="3794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Remote-write compatibility, unverified</a:t>
            </a:r>
            <a:endParaRPr lang="en-US" sz="1400"/>
          </a:p>
        </p:txBody>
      </p:sp>
      <p:sp>
        <p:nvSpPr>
          <p:cNvPr id="935163785" name="Text 12"/>
          <p:cNvSpPr/>
          <p:nvPr/>
        </p:nvSpPr>
        <p:spPr bwMode="auto">
          <a:xfrm>
            <a:off x="914400" y="4114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100">
                <a:solidFill>
                  <a:srgbClr val="5B6770"/>
                </a:solidFill>
                <a:latin typeface="Calibri"/>
              </a:rPr>
              <a:t>OpenObserve documents Prometheus remote-write support. Not yet smoke-tested against this deployment. Confirm before the sensor depends on it.</a:t>
            </a:r>
            <a:endParaRPr lang="en-US" sz="1150"/>
          </a:p>
        </p:txBody>
      </p:sp>
      <p:sp>
        <p:nvSpPr>
          <p:cNvPr id="40386705" name="Shape 13"/>
          <p:cNvSpPr/>
          <p:nvPr/>
        </p:nvSpPr>
        <p:spPr bwMode="auto">
          <a:xfrm>
            <a:off x="5486400" y="118872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1F2A33"/>
          </a:solidFill>
          <a:ln w="12700">
            <a:solidFill>
              <a:srgbClr val="1F2A33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0965551" name="Text 14"/>
          <p:cNvSpPr/>
          <p:nvPr/>
        </p:nvSpPr>
        <p:spPr bwMode="auto">
          <a:xfrm>
            <a:off x="57607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500" b="1">
                <a:solidFill>
                  <a:srgbClr val="FFB27A"/>
                </a:solidFill>
                <a:latin typeface="Cambria"/>
              </a:rPr>
              <a:t>Reach for the standard if this grows</a:t>
            </a:r>
            <a:endParaRPr lang="en-US" sz="1700"/>
          </a:p>
        </p:txBody>
      </p:sp>
      <p:sp>
        <p:nvSpPr>
          <p:cNvPr id="120662195" name="Text 15"/>
          <p:cNvSpPr/>
          <p:nvPr/>
        </p:nvSpPr>
        <p:spPr bwMode="auto">
          <a:xfrm>
            <a:off x="5760720" y="178308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Alert routing</a:t>
            </a:r>
            <a:endParaRPr lang="en-US" sz="1100"/>
          </a:p>
          <a:p>
            <a:pPr marL="0" indent="0">
              <a:buNone/>
              <a:defRPr/>
            </a:pPr>
            <a:r>
              <a:rPr sz="1050">
                <a:solidFill>
                  <a:srgbClr val="FFFFFF"/>
                </a:solidFill>
                <a:latin typeface="Calibri"/>
              </a:rPr>
              <a:t>Alertmanager's grouping, silencing, and inhibition are more mature than OpenObserve's rule-plus-webhook model. Reach for it if routing outgrows one or two Slack webhooks.</a:t>
            </a:r>
            <a:endParaRPr/>
          </a:p>
          <a:p>
            <a:pPr marL="0" indent="0">
              <a:buNone/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Dashboards</a:t>
            </a:r>
            <a:endParaRPr/>
          </a:p>
          <a:p>
            <a:pPr marL="0" indent="0">
              <a:buNone/>
              <a:defRPr/>
            </a:pPr>
            <a:r>
              <a:rPr sz="1050">
                <a:solidFill>
                  <a:srgbClr val="FFFFFF"/>
                </a:solidFill>
                <a:latin typeface="Calibri"/>
              </a:rPr>
              <a:t>Grafana can point at OpenObserve's Prometheus-compatible query endpoint without touching ingestion, if OpenObserve's own UI proves limiting.</a:t>
            </a:r>
            <a:endParaRPr/>
          </a:p>
          <a:p>
            <a:pPr marL="0" indent="0">
              <a:buNone/>
              <a:defRPr/>
            </a:pPr>
            <a:r>
              <a:rPr sz="1050" b="1">
                <a:solidFill>
                  <a:srgbClr val="FFFFFF"/>
                </a:solidFill>
                <a:latin typeface="Calibri"/>
              </a:rPr>
              <a:t>Tracing</a:t>
            </a:r>
            <a:endParaRPr/>
          </a:p>
          <a:p>
            <a:pPr marL="0" indent="0">
              <a:buNone/>
              <a:defRPr/>
            </a:pPr>
            <a:r>
              <a:rPr sz="1050">
                <a:solidFill>
                  <a:srgbClr val="FFFFFF"/>
                </a:solidFill>
                <a:latin typeface="Calibri"/>
              </a:rPr>
              <a:t>OpenTelemetry is the standard either way. OpenObserve's native OTLP support means it's already the right destination when tracing gets built.</a:t>
            </a:r>
            <a:endParaRPr/>
          </a:p>
        </p:txBody>
      </p:sp>
      <p:sp>
        <p:nvSpPr>
          <p:cNvPr id="1140492377" name="Text 16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Observability Design  |  7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6680818" name="Text 0"/>
          <p:cNvSpPr/>
          <p:nvPr/>
        </p:nvSpPr>
        <p:spPr bwMode="auto"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3000" b="1">
                <a:solidFill>
                  <a:srgbClr val="1F2A33"/>
                </a:solidFill>
                <a:latin typeface="Cambria"/>
              </a:rPr>
              <a:t>Rollout and verification</a:t>
            </a:r>
            <a:endParaRPr lang="en-US" sz="3000"/>
          </a:p>
        </p:txBody>
      </p:sp>
      <p:sp>
        <p:nvSpPr>
          <p:cNvPr id="146040875" name="Text 1"/>
          <p:cNvSpPr/>
          <p:nvPr/>
        </p:nvSpPr>
        <p:spPr bwMode="auto"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300" i="1">
                <a:solidFill>
                  <a:srgbClr val="5B6770"/>
                </a:solidFill>
                <a:latin typeface="Calibri"/>
              </a:rPr>
              <a:t>Against the real stack, not a green field</a:t>
            </a:r>
            <a:endParaRPr lang="en-US" sz="1300"/>
          </a:p>
        </p:txBody>
      </p:sp>
      <p:sp>
        <p:nvSpPr>
          <p:cNvPr id="685642099" name="Shape 2"/>
          <p:cNvSpPr/>
          <p:nvPr/>
        </p:nvSpPr>
        <p:spPr bwMode="auto">
          <a:xfrm>
            <a:off x="457200" y="1389888"/>
            <a:ext cx="274320" cy="2743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043919" name="Shape 3"/>
          <p:cNvSpPr/>
          <p:nvPr/>
        </p:nvSpPr>
        <p:spPr bwMode="auto">
          <a:xfrm>
            <a:off x="594360" y="1664208"/>
            <a:ext cx="0" cy="71323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6213739" name="Text 4"/>
          <p:cNvSpPr/>
          <p:nvPr/>
        </p:nvSpPr>
        <p:spPr bwMode="auto">
          <a:xfrm>
            <a:off x="914400" y="13716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Extend Vector</a:t>
            </a:r>
            <a:endParaRPr lang="en-US" sz="1400"/>
          </a:p>
        </p:txBody>
      </p:sp>
      <p:sp>
        <p:nvSpPr>
          <p:cNvPr id="1465992343" name="Text 5"/>
          <p:cNvSpPr/>
          <p:nvPr/>
        </p:nvSpPr>
        <p:spPr bwMode="auto">
          <a:xfrm>
            <a:off x="914400" y="167335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>
                <a:solidFill>
                  <a:srgbClr val="5B6770"/>
                </a:solidFill>
                <a:latin typeface="Calibri"/>
              </a:rPr>
              <a:t>Add host_metrics and prometheus_scrape sources plus a prometheus_remote_write sink to vector_config in clear-infra. terraform apply. Confirm host CPU/mem series in OpenObserve.</a:t>
            </a:r>
            <a:endParaRPr lang="en-US" sz="1050"/>
          </a:p>
        </p:txBody>
      </p:sp>
      <p:sp>
        <p:nvSpPr>
          <p:cNvPr id="1619505591" name="Shape 6"/>
          <p:cNvSpPr/>
          <p:nvPr/>
        </p:nvSpPr>
        <p:spPr bwMode="auto">
          <a:xfrm>
            <a:off x="457200" y="2395728"/>
            <a:ext cx="274320" cy="2743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4665427" name="Shape 7"/>
          <p:cNvSpPr/>
          <p:nvPr/>
        </p:nvSpPr>
        <p:spPr bwMode="auto">
          <a:xfrm>
            <a:off x="594360" y="2670048"/>
            <a:ext cx="0" cy="71323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3399179" name="Text 8"/>
          <p:cNvSpPr/>
          <p:nvPr/>
        </p:nvSpPr>
        <p:spPr bwMode="auto">
          <a:xfrm>
            <a:off x="914400" y="237744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Wire the Dagster side</a:t>
            </a:r>
            <a:endParaRPr lang="en-US" sz="1400"/>
          </a:p>
        </p:txBody>
      </p:sp>
      <p:sp>
        <p:nvSpPr>
          <p:cNvPr id="661502862" name="Text 9"/>
          <p:cNvSpPr/>
          <p:nvPr/>
        </p:nvSpPr>
        <p:spPr bwMode="auto">
          <a:xfrm>
            <a:off x="914400" y="267919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>
                <a:solidFill>
                  <a:srgbClr val="5B6770"/>
                </a:solidFill>
                <a:latin typeface="Calibri"/>
              </a:rPr>
              <a:t>Turn on run_status_sensor (ships STOPPED). It reads run duration and MaterializeResult/AssetCheckEvaluation metadata, pushes to Pushgateway. Point SENTRY_DSN at the new GlitchTip project.</a:t>
            </a:r>
            <a:endParaRPr lang="en-US" sz="1050"/>
          </a:p>
        </p:txBody>
      </p:sp>
      <p:sp>
        <p:nvSpPr>
          <p:cNvPr id="167349525" name="Shape 10"/>
          <p:cNvSpPr/>
          <p:nvPr/>
        </p:nvSpPr>
        <p:spPr bwMode="auto">
          <a:xfrm>
            <a:off x="457200" y="3401568"/>
            <a:ext cx="274320" cy="274320"/>
          </a:xfrm>
          <a:prstGeom prst="ellipse">
            <a:avLst/>
          </a:prstGeom>
          <a:solidFill>
            <a:srgbClr val="FF7602"/>
          </a:solidFill>
          <a:ln w="12700">
            <a:solidFill>
              <a:srgbClr val="FF7602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6675063" name="Text 11"/>
          <p:cNvSpPr/>
          <p:nvPr/>
        </p:nvSpPr>
        <p:spPr bwMode="auto">
          <a:xfrm>
            <a:off x="914400" y="33832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400" b="1">
                <a:solidFill>
                  <a:srgbClr val="1F2A33"/>
                </a:solidFill>
                <a:latin typeface="Calibri"/>
              </a:rPr>
              <a:t>Add the Pushgateway and GlitchTip project</a:t>
            </a:r>
            <a:endParaRPr lang="en-US" sz="1400"/>
          </a:p>
        </p:txBody>
      </p:sp>
      <p:sp>
        <p:nvSpPr>
          <p:cNvPr id="901023403" name="Text 12"/>
          <p:cNvSpPr/>
          <p:nvPr/>
        </p:nvSpPr>
        <p:spPr bwMode="auto">
          <a:xfrm>
            <a:off x="914400" y="36850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sz="1050">
                <a:solidFill>
                  <a:srgbClr val="5B6770"/>
                </a:solidFill>
                <a:latin typeface="Calibri"/>
              </a:rPr>
              <a:t>prom/pushgateway in envs/dev/main.tf. Create the fourth GlitchTip project by hand, paste its DSN into terraform.tfvars.</a:t>
            </a:r>
            <a:endParaRPr lang="en-US" sz="1050"/>
          </a:p>
        </p:txBody>
      </p:sp>
      <p:sp>
        <p:nvSpPr>
          <p:cNvPr id="1940658033" name="Shape 13"/>
          <p:cNvSpPr/>
          <p:nvPr/>
        </p:nvSpPr>
        <p:spPr bwMode="auto">
          <a:xfrm>
            <a:off x="5486400" y="1371600"/>
            <a:ext cx="3200400" cy="3200400"/>
          </a:xfrm>
          <a:prstGeom prst="rect">
            <a:avLst/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679990" name="Text 14"/>
          <p:cNvSpPr/>
          <p:nvPr/>
        </p:nvSpPr>
        <p:spPr bwMode="auto">
          <a:xfrm>
            <a:off x="5715000" y="1508759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1600" b="1">
                <a:solidFill>
                  <a:srgbClr val="1F2A33"/>
                </a:solidFill>
                <a:latin typeface="Cambria"/>
              </a:rPr>
              <a:t>Verification checklist</a:t>
            </a:r>
            <a:endParaRPr lang="en-US" sz="1600"/>
          </a:p>
        </p:txBody>
      </p:sp>
      <p:sp>
        <p:nvSpPr>
          <p:cNvPr id="2050590301" name="Text 15"/>
          <p:cNvSpPr/>
          <p:nvPr/>
        </p:nvSpPr>
        <p:spPr bwMode="auto">
          <a:xfrm>
            <a:off x="5715000" y="19202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3520" indent="-111760" algn="l">
              <a:spcAft>
                <a:spcPts val="500"/>
              </a:spcAft>
              <a:buSzPct val="100000"/>
              <a:buChar char="•"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Host metrics visible in OpenObserve after terraform apply</a:t>
            </a:r>
            <a:endParaRPr lang="en-US" sz="1100"/>
          </a:p>
          <a:p>
            <a:pPr marL="223520" indent="-111760" algn="l">
              <a:spcAft>
                <a:spcPts val="500"/>
              </a:spcAft>
              <a:buChar char="•"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Pushgateway metric visible after a local test push</a:t>
            </a:r>
            <a:endParaRPr/>
          </a:p>
          <a:p>
            <a:pPr marL="223520" indent="-111760" algn="l">
              <a:spcAft>
                <a:spcPts val="500"/>
              </a:spcAft>
              <a:buChar char="•"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A deliberate exception lands as a GlitchTip issue, not just a log line</a:t>
            </a:r>
            <a:endParaRPr/>
          </a:p>
          <a:p>
            <a:pPr marL="223520" indent="-111760" algn="l">
              <a:spcAft>
                <a:spcPts val="500"/>
              </a:spcAft>
              <a:buChar char="•"/>
              <a:defRPr/>
            </a:pPr>
            <a:r>
              <a:rPr sz="1100">
                <a:solidFill>
                  <a:srgbClr val="1F2A33"/>
                </a:solidFill>
                <a:latin typeface="Calibri"/>
              </a:rPr>
              <a:t>No repo-wide lint yet: run pytest, then a plain import check</a:t>
            </a:r>
            <a:endParaRPr/>
          </a:p>
        </p:txBody>
      </p:sp>
      <p:sp>
        <p:nvSpPr>
          <p:cNvPr id="67442650" name="Text 16"/>
          <p:cNvSpPr/>
          <p:nvPr/>
        </p:nvSpPr>
        <p:spPr bwMode="auto"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sz="900">
                <a:solidFill>
                  <a:srgbClr val="5B6770"/>
                </a:solidFill>
                <a:latin typeface="Calibri"/>
              </a:rPr>
              <a:t>CLEAR Context Pipeline  |  Observability Design  |  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2026-08-19T11:53:47Z</dcterms:created>
  <dcterms:modified xsi:type="dcterms:W3CDTF">2026-09-01T07:30:34Z</dcterms:modified>
</cp:coreProperties>
</file>